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9"/>
  </p:handoutMasterIdLst>
  <p:sldIdLst>
    <p:sldId id="1758" r:id="rId4"/>
    <p:sldId id="1759" r:id="rId6"/>
    <p:sldId id="1760" r:id="rId7"/>
    <p:sldId id="1757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1556"/>
    <a:srgbClr val="6E1359"/>
    <a:srgbClr val="48A1F2"/>
    <a:srgbClr val="525B72"/>
    <a:srgbClr val="FFFFFF"/>
    <a:srgbClr val="8E2A2A"/>
    <a:srgbClr val="6C0000"/>
    <a:srgbClr val="C63E3E"/>
    <a:srgbClr val="DB8585"/>
    <a:srgbClr val="7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759" autoAdjust="0"/>
  </p:normalViewPr>
  <p:slideViewPr>
    <p:cSldViewPr snapToGrid="0" showGuides="1">
      <p:cViewPr varScale="1">
        <p:scale>
          <a:sx n="70" d="100"/>
          <a:sy n="70" d="100"/>
        </p:scale>
        <p:origin x="738" y="66"/>
      </p:cViewPr>
      <p:guideLst>
        <p:guide orient="horz" pos="22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850"/>
    </p:cViewPr>
  </p:sorterViewPr>
  <p:notesViewPr>
    <p:cSldViewPr snapToGrid="0">
      <p:cViewPr varScale="1">
        <p:scale>
          <a:sx n="57" d="100"/>
          <a:sy n="57" d="100"/>
        </p:scale>
        <p:origin x="2405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43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5D68A-C9EE-4DB2-A6F8-B810BB6A2D8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E9AA3-FC04-49C0-9E86-4D7EC0F81D7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118E9-E82C-42B0-A109-929B02C387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A712A-FD8E-4D24-A708-D217C50E192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最后，我将向大家展示我们的工程落地成果。这张截图显示，我们的promotionservice已经成功通过Kubernetes部署并稳定运行。为了验证功能，我们进行了全栈联调。大家可以看到，在购物车页面，未使用优惠码时总价是28.98美元。而当我们输入优惠码SAVE10后，系统成功计算并抵扣了2美元，最终价格变为26.98美元，功能完全符合预期。至此，我负责的基座系统搭建与故障靶点注入准备工作已经全部完成。接下来，将由我的队友为大家介绍第二章节：Selenium和JMeter自动化测试部分。谢谢大家。</a:t>
            </a:r>
            <a:endParaRPr lang="en-US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3C242-7F95-44DB-80BE-49C4BD2CCD4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27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image" Target="../media/image4.png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27.xml"/><Relationship Id="rId26" Type="http://schemas.openxmlformats.org/officeDocument/2006/relationships/tags" Target="../tags/tag42.xml"/><Relationship Id="rId25" Type="http://schemas.openxmlformats.org/officeDocument/2006/relationships/tags" Target="../tags/tag41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21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image" Target="../media/image6.png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image" Target="../media/image5.png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0" y="121768"/>
            <a:ext cx="12192000" cy="869668"/>
            <a:chOff x="0" y="0"/>
            <a:chExt cx="12192000" cy="869668"/>
          </a:xfrm>
        </p:grpSpPr>
        <p:sp>
          <p:nvSpPr>
            <p:cNvPr id="34" name="小红书-苗猫大丸子(倒卖必究)-43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355600" dist="190500" dir="5400000" algn="t" rotWithShape="0">
                <a:prstClr val="black">
                  <a:alpha val="11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cxnSp>
          <p:nvCxnSpPr>
            <p:cNvPr id="35" name="小红书-苗猫大丸子(倒卖必究)-44"/>
            <p:cNvCxnSpPr/>
            <p:nvPr/>
          </p:nvCxnSpPr>
          <p:spPr>
            <a:xfrm>
              <a:off x="4594682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小红书-苗猫大丸子(倒卖必究)-45"/>
            <p:cNvSpPr txBox="1"/>
            <p:nvPr/>
          </p:nvSpPr>
          <p:spPr>
            <a:xfrm>
              <a:off x="3030512" y="211334"/>
              <a:ext cx="139255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b="1" spc="1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zh-CN" altLang="en-US" dirty="0">
                  <a:solidFill>
                    <a:srgbClr val="691452"/>
                  </a:solidFill>
                </a:rPr>
                <a:t>微服务开发</a:t>
              </a:r>
              <a:endParaRPr lang="zh-CN" altLang="en-US" dirty="0">
                <a:solidFill>
                  <a:srgbClr val="691452"/>
                </a:solidFill>
              </a:endParaRPr>
            </a:p>
          </p:txBody>
        </p:sp>
        <p:cxnSp>
          <p:nvCxnSpPr>
            <p:cNvPr id="38" name="小红书-苗猫大丸子(倒卖必究)-47"/>
            <p:cNvCxnSpPr/>
            <p:nvPr/>
          </p:nvCxnSpPr>
          <p:spPr>
            <a:xfrm>
              <a:off x="2858891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小红书-苗猫大丸子(倒卖必究)-49"/>
            <p:cNvCxnSpPr/>
            <p:nvPr/>
          </p:nvCxnSpPr>
          <p:spPr>
            <a:xfrm>
              <a:off x="6330474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小红书-苗猫大丸子(倒卖必究)-51"/>
            <p:cNvCxnSpPr/>
            <p:nvPr/>
          </p:nvCxnSpPr>
          <p:spPr>
            <a:xfrm>
              <a:off x="8066265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Picture 64" descr="南开大学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6020" y="158235"/>
              <a:ext cx="2011854" cy="711433"/>
            </a:xfrm>
            <a:prstGeom prst="rect">
              <a:avLst/>
            </a:prstGeom>
          </p:spPr>
        </p:pic>
        <p:cxnSp>
          <p:nvCxnSpPr>
            <p:cNvPr id="61" name="小红书-苗猫大丸子(倒卖必究)-54"/>
            <p:cNvCxnSpPr/>
            <p:nvPr/>
          </p:nvCxnSpPr>
          <p:spPr>
            <a:xfrm>
              <a:off x="9790290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6" name="图片 65" descr="architecture-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" y="2087245"/>
            <a:ext cx="6731000" cy="3699510"/>
          </a:xfrm>
          <a:prstGeom prst="rect">
            <a:avLst/>
          </a:prstGeom>
          <a:ln w="28575" cmpd="sng">
            <a:noFill/>
            <a:prstDash val="solid"/>
          </a:ln>
        </p:spPr>
      </p:pic>
      <p:sp>
        <p:nvSpPr>
          <p:cNvPr id="77" name="文本框 76"/>
          <p:cNvSpPr txBox="1"/>
          <p:nvPr/>
        </p:nvSpPr>
        <p:spPr>
          <a:xfrm>
            <a:off x="1006475" y="1270635"/>
            <a:ext cx="4130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Online-Boutique</a:t>
            </a:r>
            <a:r>
              <a:rPr lang="zh-CN" altLang="en-US" sz="2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微服务系统</a:t>
            </a:r>
            <a:endParaRPr lang="zh-CN" altLang="en-US" sz="2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0" name="虚尾箭头 79"/>
          <p:cNvSpPr/>
          <p:nvPr/>
        </p:nvSpPr>
        <p:spPr>
          <a:xfrm>
            <a:off x="541020" y="1270635"/>
            <a:ext cx="466090" cy="472440"/>
          </a:xfrm>
          <a:prstGeom prst="stripedRightArrow">
            <a:avLst/>
          </a:prstGeom>
          <a:solidFill>
            <a:srgbClr val="6E1556">
              <a:alpha val="85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2" name="图片 61" descr="online-boutique-frontend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821555"/>
            <a:ext cx="2424430" cy="1845945"/>
          </a:xfrm>
          <a:prstGeom prst="rect">
            <a:avLst/>
          </a:prstGeom>
          <a:ln w="28575" cmpd="sng">
            <a:noFill/>
            <a:prstDash val="solid"/>
          </a:ln>
        </p:spPr>
      </p:pic>
      <p:sp>
        <p:nvSpPr>
          <p:cNvPr id="4" name="AutoShape 33"/>
          <p:cNvSpPr/>
          <p:nvPr/>
        </p:nvSpPr>
        <p:spPr>
          <a:xfrm>
            <a:off x="7308215" y="1812925"/>
            <a:ext cx="4737735" cy="48552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2000" b="1" i="0" u="none" strike="noStrike">
                <a:solidFill>
                  <a:srgbClr val="6914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系统选型与架构优势</a:t>
            </a:r>
            <a:r>
              <a:rPr lang="en-US" sz="2000" b="1" i="0" u="none" strike="noStrike">
                <a:solidFill>
                  <a:srgbClr val="6914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2000" b="1" i="0" u="none" strike="noStrike">
                <a:solidFill>
                  <a:srgbClr val="6914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zh-CN" altLang="en-US" sz="2000" b="1" i="0" u="none" strike="noStrike">
              <a:solidFill>
                <a:srgbClr val="6914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1" i="0" u="none" strike="noStrike" ker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工业级微服务系统部署</a:t>
            </a:r>
            <a:endParaRPr lang="en-US" sz="1600" b="1" i="0" u="none" strike="noStrike" kern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lvl="1" indent="0" algn="l" fontAlgn="auto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选取具有真实电商业务背景的 </a:t>
            </a:r>
            <a:r>
              <a:rPr lang="en-US" altLang="zh-CN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Online-Boutique 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架构，</a:t>
            </a:r>
            <a:r>
              <a:rPr lang="en-US"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具备</a:t>
            </a:r>
            <a:r>
              <a:rPr lang="en-US" sz="1400" b="1">
                <a:solidFill>
                  <a:srgbClr val="6E1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真实生产环境的复杂特性</a:t>
            </a:r>
            <a:r>
              <a:rPr lang="zh-CN" altLang="en-US"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提供足够的系统复杂度与完备的业务调用链。</a:t>
            </a:r>
            <a:endParaRPr lang="zh-CN" altLang="en-US" sz="14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1" i="0" u="none" strike="noStrike" ker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异构环境与 gRPC 底层通信</a:t>
            </a:r>
            <a:endParaRPr lang="en-US" sz="1600" b="1" i="0" u="none" strike="noStrike" kern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lvl="1" indent="0" algn="l" fontAlgn="auto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系统由 </a:t>
            </a:r>
            <a:r>
              <a:rPr lang="zh-CN" altLang="en-US" sz="1400" b="1" i="0" u="none" strike="noStrike">
                <a:solidFill>
                  <a:srgbClr val="6E1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 余个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跨语言（</a:t>
            </a:r>
            <a:r>
              <a:rPr lang="en-US" altLang="zh-CN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Go/Python/Java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等）</a:t>
            </a:r>
            <a:r>
              <a:rPr lang="en-US" sz="1400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异构微服务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构成，服务间基于 </a:t>
            </a:r>
            <a:r>
              <a:rPr lang="en-US" altLang="zh-CN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gRPC 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协议与 </a:t>
            </a:r>
            <a:r>
              <a:rPr lang="en-US" altLang="zh-CN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Protobuf 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 </a:t>
            </a:r>
            <a:r>
              <a:rPr lang="en-US" altLang="zh-CN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RPC 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调用。</a:t>
            </a:r>
            <a:endParaRPr lang="zh-CN" altLang="en-US" sz="14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1600" b="1" i="0" u="none" strike="noStrike" ker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适配异常检测与故障诊断</a:t>
            </a:r>
            <a:endParaRPr lang="en-US" sz="1600" b="1" i="0" u="none" strike="noStrike" kern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lvl="1" indent="0" algn="l" fontAlgn="auto">
              <a:lnSpc>
                <a:spcPct val="150000"/>
              </a:lnSpc>
              <a:defRPr/>
            </a:pP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具有复杂的微服务调用拓扑拓扑链路，能够客观</a:t>
            </a:r>
            <a:r>
              <a:rPr lang="zh-CN" altLang="en-US" sz="1400" b="1" i="0" u="none" strike="noStrike">
                <a:solidFill>
                  <a:srgbClr val="6E1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重现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网络延迟或宕机时的</a:t>
            </a:r>
            <a:r>
              <a:rPr lang="zh-CN" altLang="en-US" sz="1400" b="1" i="0" u="none" strike="noStrike">
                <a:solidFill>
                  <a:srgbClr val="6E1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级联传播效应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，为后续 </a:t>
            </a:r>
            <a:r>
              <a:rPr lang="en-US" altLang="zh-CN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ChaosMesh 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故障注入 及 根因分析算法复现 </a:t>
            </a:r>
            <a:r>
              <a:rPr lang="zh-CN" altLang="en-US" sz="1400" b="1" i="0" u="none" strike="noStrike">
                <a:solidFill>
                  <a:srgbClr val="6E15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提供高质量数据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。</a:t>
            </a:r>
            <a:endParaRPr lang="zh-CN" altLang="en-US" sz="14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27300" y="2792730"/>
            <a:ext cx="3627755" cy="1438275"/>
          </a:xfrm>
          <a:prstGeom prst="rect">
            <a:avLst/>
          </a:prstGeom>
          <a:noFill/>
          <a:ln w="28575" cmpd="sng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3515">
        <p14:flip dir="l"/>
      </p:transition>
    </mc:Choice>
    <mc:Fallback>
      <p:transition spd="slow" advTm="3515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/>
          <p:cNvSpPr txBox="1"/>
          <p:nvPr/>
        </p:nvSpPr>
        <p:spPr>
          <a:xfrm>
            <a:off x="1221105" y="1266190"/>
            <a:ext cx="4130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优惠券</a:t>
            </a:r>
            <a:r>
              <a:rPr lang="zh-CN" altLang="en-US" sz="2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微服务交互流程</a:t>
            </a:r>
            <a:endParaRPr lang="zh-CN" altLang="en-US" sz="240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0" name="虚尾箭头 79"/>
          <p:cNvSpPr/>
          <p:nvPr/>
        </p:nvSpPr>
        <p:spPr>
          <a:xfrm>
            <a:off x="532130" y="1242695"/>
            <a:ext cx="535940" cy="516890"/>
          </a:xfrm>
          <a:prstGeom prst="stripedRightArrow">
            <a:avLst/>
          </a:prstGeom>
          <a:solidFill>
            <a:srgbClr val="6E1556">
              <a:alpha val="85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0" y="121768"/>
            <a:ext cx="12192000" cy="869668"/>
            <a:chOff x="0" y="0"/>
            <a:chExt cx="12192000" cy="869668"/>
          </a:xfrm>
        </p:grpSpPr>
        <p:sp>
          <p:nvSpPr>
            <p:cNvPr id="3" name="小红书-苗猫大丸子(倒卖必究)-43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355600" dist="190500" dir="5400000" algn="t" rotWithShape="0">
                <a:prstClr val="black">
                  <a:alpha val="11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cxnSp>
          <p:nvCxnSpPr>
            <p:cNvPr id="4" name="小红书-苗猫大丸子(倒卖必究)-44"/>
            <p:cNvCxnSpPr/>
            <p:nvPr/>
          </p:nvCxnSpPr>
          <p:spPr>
            <a:xfrm>
              <a:off x="4594682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小红书-苗猫大丸子(倒卖必究)-45"/>
            <p:cNvSpPr txBox="1"/>
            <p:nvPr/>
          </p:nvSpPr>
          <p:spPr>
            <a:xfrm>
              <a:off x="3030512" y="211334"/>
              <a:ext cx="139255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b="1" spc="1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zh-CN" altLang="en-US" dirty="0">
                  <a:solidFill>
                    <a:srgbClr val="691452"/>
                  </a:solidFill>
                </a:rPr>
                <a:t>微服务开发</a:t>
              </a:r>
              <a:endParaRPr lang="zh-CN" altLang="en-US" dirty="0">
                <a:solidFill>
                  <a:srgbClr val="691452"/>
                </a:solidFill>
              </a:endParaRPr>
            </a:p>
          </p:txBody>
        </p:sp>
        <p:cxnSp>
          <p:nvCxnSpPr>
            <p:cNvPr id="6" name="小红书-苗猫大丸子(倒卖必究)-47"/>
            <p:cNvCxnSpPr/>
            <p:nvPr/>
          </p:nvCxnSpPr>
          <p:spPr>
            <a:xfrm>
              <a:off x="2858891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小红书-苗猫大丸子(倒卖必究)-49"/>
            <p:cNvCxnSpPr/>
            <p:nvPr/>
          </p:nvCxnSpPr>
          <p:spPr>
            <a:xfrm>
              <a:off x="6330474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小红书-苗猫大丸子(倒卖必究)-51"/>
            <p:cNvCxnSpPr/>
            <p:nvPr/>
          </p:nvCxnSpPr>
          <p:spPr>
            <a:xfrm>
              <a:off x="8066265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Picture 64" descr="南开大学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6020" y="158235"/>
              <a:ext cx="2011854" cy="711433"/>
            </a:xfrm>
            <a:prstGeom prst="rect">
              <a:avLst/>
            </a:prstGeom>
          </p:spPr>
        </p:pic>
        <p:cxnSp>
          <p:nvCxnSpPr>
            <p:cNvPr id="61" name="小红书-苗猫大丸子(倒卖必究)-54"/>
            <p:cNvCxnSpPr/>
            <p:nvPr/>
          </p:nvCxnSpPr>
          <p:spPr>
            <a:xfrm>
              <a:off x="9790290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/>
          <p:cNvGrpSpPr/>
          <p:nvPr/>
        </p:nvGrpSpPr>
        <p:grpSpPr>
          <a:xfrm>
            <a:off x="489585" y="2011045"/>
            <a:ext cx="11043285" cy="4446270"/>
            <a:chOff x="838" y="2928"/>
            <a:chExt cx="17524" cy="7239"/>
          </a:xfrm>
        </p:grpSpPr>
        <p:sp>
          <p:nvSpPr>
            <p:cNvPr id="10" name="圆角矩形 9"/>
            <p:cNvSpPr/>
            <p:nvPr/>
          </p:nvSpPr>
          <p:spPr>
            <a:xfrm>
              <a:off x="838" y="2928"/>
              <a:ext cx="17524" cy="7239"/>
            </a:xfrm>
            <a:prstGeom prst="roundRect">
              <a:avLst>
                <a:gd name="adj" fmla="val 9075"/>
              </a:avLst>
            </a:prstGeom>
            <a:noFill/>
            <a:ln>
              <a:solidFill>
                <a:srgbClr val="7030A0">
                  <a:alpha val="31000"/>
                </a:srgbClr>
              </a:solidFill>
            </a:ln>
            <a:effectLst>
              <a:outerShdw blurRad="50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406" y="3288"/>
              <a:ext cx="1798" cy="6538"/>
              <a:chOff x="1406" y="3288"/>
              <a:chExt cx="1798" cy="6538"/>
            </a:xfrm>
          </p:grpSpPr>
          <p:sp>
            <p:nvSpPr>
              <p:cNvPr id="11" name="圆角矩形 10"/>
              <p:cNvSpPr/>
              <p:nvPr/>
            </p:nvSpPr>
            <p:spPr>
              <a:xfrm>
                <a:off x="1406" y="3288"/>
                <a:ext cx="1798" cy="69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solidFill>
                      <a:schemeClr val="tx1"/>
                    </a:solidFill>
                  </a:rPr>
                  <a:t>User</a:t>
                </a:r>
                <a:endParaRPr lang="en-US" altLang="zh-CN" sz="16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>
                <a:off x="2297" y="3984"/>
                <a:ext cx="20" cy="5842"/>
              </a:xfrm>
              <a:prstGeom prst="line">
                <a:avLst/>
              </a:prstGeom>
              <a:ln w="28575" cmpd="sng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/>
            <p:cNvGrpSpPr/>
            <p:nvPr>
              <p:custDataLst>
                <p:tags r:id="rId2"/>
              </p:custDataLst>
            </p:nvPr>
          </p:nvGrpSpPr>
          <p:grpSpPr>
            <a:xfrm>
              <a:off x="4169" y="3288"/>
              <a:ext cx="1883" cy="6551"/>
              <a:chOff x="5143" y="3288"/>
              <a:chExt cx="1883" cy="6551"/>
            </a:xfrm>
          </p:grpSpPr>
          <p:sp>
            <p:nvSpPr>
              <p:cNvPr id="12" name="圆角矩形 11"/>
              <p:cNvSpPr/>
              <p:nvPr/>
            </p:nvSpPr>
            <p:spPr>
              <a:xfrm>
                <a:off x="5143" y="3288"/>
                <a:ext cx="1883" cy="69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solidFill>
                      <a:schemeClr val="tx1"/>
                    </a:solidFill>
                  </a:rPr>
                  <a:t>Frontend</a:t>
                </a:r>
                <a:endParaRPr lang="en-US" altLang="zh-CN" sz="16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直接连接符 16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6035" y="3984"/>
                <a:ext cx="23" cy="5855"/>
              </a:xfrm>
              <a:prstGeom prst="line">
                <a:avLst/>
              </a:prstGeom>
              <a:ln w="28575" cmpd="sng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>
              <p:custDataLst>
                <p:tags r:id="rId4"/>
              </p:custDataLst>
            </p:nvPr>
          </p:nvGrpSpPr>
          <p:grpSpPr>
            <a:xfrm>
              <a:off x="6724" y="3288"/>
              <a:ext cx="1916" cy="6502"/>
              <a:chOff x="8253" y="3288"/>
              <a:chExt cx="1916" cy="6502"/>
            </a:xfrm>
          </p:grpSpPr>
          <p:sp>
            <p:nvSpPr>
              <p:cNvPr id="13" name="圆角矩形 12"/>
              <p:cNvSpPr/>
              <p:nvPr/>
            </p:nvSpPr>
            <p:spPr>
              <a:xfrm>
                <a:off x="8253" y="3288"/>
                <a:ext cx="1916" cy="69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solidFill>
                      <a:schemeClr val="tx1"/>
                    </a:solidFill>
                  </a:rPr>
                  <a:t>Checkout</a:t>
                </a:r>
                <a:endParaRPr lang="en-US" altLang="zh-CN" sz="16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直接连接符 17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9146" y="3984"/>
                <a:ext cx="30" cy="5806"/>
              </a:xfrm>
              <a:prstGeom prst="line">
                <a:avLst/>
              </a:prstGeom>
              <a:ln w="28575" cmpd="sng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54" name="组合 53"/>
            <p:cNvGrpSpPr/>
            <p:nvPr>
              <p:custDataLst>
                <p:tags r:id="rId6"/>
              </p:custDataLst>
            </p:nvPr>
          </p:nvGrpSpPr>
          <p:grpSpPr>
            <a:xfrm>
              <a:off x="12042" y="3288"/>
              <a:ext cx="2529" cy="6575"/>
              <a:chOff x="11439" y="3288"/>
              <a:chExt cx="2529" cy="6575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11439" y="3288"/>
                <a:ext cx="2529" cy="69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 b="1">
                    <a:solidFill>
                      <a:srgbClr val="7030A0"/>
                    </a:solidFill>
                  </a:rPr>
                  <a:t>Prommotion</a:t>
                </a:r>
                <a:endParaRPr lang="en-US" altLang="zh-CN" sz="1600" b="1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19" name="直接连接符 18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12703" y="3984"/>
                <a:ext cx="20" cy="5879"/>
              </a:xfrm>
              <a:prstGeom prst="line">
                <a:avLst/>
              </a:prstGeom>
              <a:ln w="28575" cmpd="sng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57" name="组合 56"/>
            <p:cNvGrpSpPr/>
            <p:nvPr/>
          </p:nvGrpSpPr>
          <p:grpSpPr>
            <a:xfrm>
              <a:off x="15100" y="3288"/>
              <a:ext cx="2188" cy="6575"/>
              <a:chOff x="15100" y="3288"/>
              <a:chExt cx="2188" cy="6575"/>
            </a:xfrm>
          </p:grpSpPr>
          <p:sp>
            <p:nvSpPr>
              <p:cNvPr id="15" name="圆角矩形 14"/>
              <p:cNvSpPr/>
              <p:nvPr/>
            </p:nvSpPr>
            <p:spPr>
              <a:xfrm>
                <a:off x="15100" y="3288"/>
                <a:ext cx="2188" cy="69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solidFill>
                      <a:schemeClr val="tx1"/>
                    </a:solidFill>
                  </a:rPr>
                  <a:t>Payment</a:t>
                </a:r>
                <a:endParaRPr lang="en-US" altLang="zh-CN" sz="16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16187" y="3984"/>
                <a:ext cx="33" cy="5879"/>
              </a:xfrm>
              <a:prstGeom prst="line">
                <a:avLst/>
              </a:prstGeom>
              <a:ln w="28575" cmpd="sng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58" name="直接箭头连接符 57"/>
            <p:cNvCxnSpPr/>
            <p:nvPr>
              <p:custDataLst>
                <p:tags r:id="rId8"/>
              </p:custDataLst>
            </p:nvPr>
          </p:nvCxnSpPr>
          <p:spPr>
            <a:xfrm>
              <a:off x="2335" y="4678"/>
              <a:ext cx="2702" cy="0"/>
            </a:xfrm>
            <a:prstGeom prst="straightConnector1">
              <a:avLst/>
            </a:prstGeom>
            <a:ln w="28575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>
              <p:custDataLst>
                <p:tags r:id="rId9"/>
              </p:custDataLst>
            </p:nvPr>
          </p:nvSpPr>
          <p:spPr>
            <a:xfrm>
              <a:off x="2846" y="4147"/>
              <a:ext cx="2043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latin typeface="等线" panose="02010600030101010101" charset="-122"/>
                  <a:ea typeface="等线" panose="02010600030101010101" charset="-122"/>
                </a:rPr>
                <a:t>输入优惠码</a:t>
              </a:r>
              <a:endParaRPr lang="zh-CN" altLang="en-US" sz="1600" b="1">
                <a:latin typeface="等线" panose="02010600030101010101" charset="-122"/>
                <a:ea typeface="等线" panose="02010600030101010101" charset="-122"/>
              </a:endParaRPr>
            </a:p>
          </p:txBody>
        </p:sp>
        <p:cxnSp>
          <p:nvCxnSpPr>
            <p:cNvPr id="60" name="直接箭头连接符 59"/>
            <p:cNvCxnSpPr/>
            <p:nvPr>
              <p:custDataLst>
                <p:tags r:id="rId10"/>
              </p:custDataLst>
            </p:nvPr>
          </p:nvCxnSpPr>
          <p:spPr>
            <a:xfrm flipV="1">
              <a:off x="5041" y="5326"/>
              <a:ext cx="8247" cy="15"/>
            </a:xfrm>
            <a:prstGeom prst="straightConnector1">
              <a:avLst/>
            </a:prstGeom>
            <a:ln w="28575" cmpd="sng">
              <a:solidFill>
                <a:schemeClr val="accent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2" name="文本框 61"/>
            <p:cNvSpPr txBox="1"/>
            <p:nvPr>
              <p:custDataLst>
                <p:tags r:id="rId11"/>
              </p:custDataLst>
            </p:nvPr>
          </p:nvSpPr>
          <p:spPr>
            <a:xfrm>
              <a:off x="6051" y="4807"/>
              <a:ext cx="5685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1600" b="1">
                  <a:latin typeface="等线" panose="02010600030101010101" charset="-122"/>
                  <a:ea typeface="等线" panose="02010600030101010101" charset="-122"/>
                </a:rPr>
                <a:t>HTTP Post</a:t>
              </a:r>
              <a:r>
                <a:rPr lang="zh-CN" altLang="en-US" sz="1600" b="1">
                  <a:latin typeface="等线" panose="02010600030101010101" charset="-122"/>
                  <a:ea typeface="等线" panose="02010600030101010101" charset="-122"/>
                </a:rPr>
                <a:t>：Session绑定及预览返回</a:t>
              </a:r>
              <a:endParaRPr lang="zh-CN" altLang="en-US" sz="1600" b="1">
                <a:latin typeface="等线" panose="02010600030101010101" charset="-122"/>
                <a:ea typeface="等线" panose="02010600030101010101" charset="-122"/>
              </a:endParaRPr>
            </a:p>
          </p:txBody>
        </p:sp>
        <p:cxnSp>
          <p:nvCxnSpPr>
            <p:cNvPr id="63" name="直接箭头连接符 62"/>
            <p:cNvCxnSpPr/>
            <p:nvPr>
              <p:custDataLst>
                <p:tags r:id="rId12"/>
              </p:custDataLst>
            </p:nvPr>
          </p:nvCxnSpPr>
          <p:spPr>
            <a:xfrm>
              <a:off x="2329" y="6311"/>
              <a:ext cx="5277" cy="30"/>
            </a:xfrm>
            <a:prstGeom prst="straightConnector1">
              <a:avLst/>
            </a:prstGeom>
            <a:ln w="28575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文本框 63"/>
            <p:cNvSpPr txBox="1"/>
            <p:nvPr>
              <p:custDataLst>
                <p:tags r:id="rId13"/>
              </p:custDataLst>
            </p:nvPr>
          </p:nvSpPr>
          <p:spPr>
            <a:xfrm>
              <a:off x="4255" y="5833"/>
              <a:ext cx="2043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1600" b="1">
                  <a:latin typeface="等线" panose="02010600030101010101" charset="-122"/>
                  <a:ea typeface="等线" panose="02010600030101010101" charset="-122"/>
                  <a:sym typeface="+mn-ea"/>
                </a:rPr>
                <a:t>点</a:t>
              </a:r>
              <a:r>
                <a:rPr lang="zh-CN" altLang="en-US" sz="1600" b="1">
                  <a:latin typeface="等线" panose="02010600030101010101" charset="-122"/>
                  <a:ea typeface="等线" panose="02010600030101010101" charset="-122"/>
                  <a:sym typeface="+mn-ea"/>
                </a:rPr>
                <a:t>击结算</a:t>
              </a:r>
              <a:endParaRPr lang="zh-CN" altLang="en-US" sz="1600" b="1">
                <a:latin typeface="等线" panose="02010600030101010101" charset="-122"/>
                <a:ea typeface="等线" panose="02010600030101010101" charset="-122"/>
                <a:sym typeface="+mn-ea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14"/>
              </p:custDataLst>
            </p:nvPr>
          </p:nvCxnSpPr>
          <p:spPr>
            <a:xfrm flipV="1">
              <a:off x="7642" y="7442"/>
              <a:ext cx="5646" cy="24"/>
            </a:xfrm>
            <a:prstGeom prst="straightConnector1">
              <a:avLst/>
            </a:prstGeom>
            <a:ln w="28575" cmpd="sng">
              <a:solidFill>
                <a:schemeClr val="accent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6" name="文本框 65"/>
            <p:cNvSpPr txBox="1"/>
            <p:nvPr>
              <p:custDataLst>
                <p:tags r:id="rId15"/>
              </p:custDataLst>
            </p:nvPr>
          </p:nvSpPr>
          <p:spPr>
            <a:xfrm>
              <a:off x="8079" y="6923"/>
              <a:ext cx="5113" cy="4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等线" panose="02010600030101010101" charset="-122"/>
                  <a:ea typeface="等线" panose="02010600030101010101" charset="-122"/>
                </a:rPr>
                <a:t>HTTP（携User_id）：二次校验</a:t>
              </a:r>
              <a:endParaRPr lang="zh-CN" altLang="en-US" sz="160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cxnSp>
          <p:nvCxnSpPr>
            <p:cNvPr id="67" name="直接箭头连接符 66"/>
            <p:cNvCxnSpPr/>
            <p:nvPr>
              <p:custDataLst>
                <p:tags r:id="rId16"/>
              </p:custDataLst>
            </p:nvPr>
          </p:nvCxnSpPr>
          <p:spPr>
            <a:xfrm flipH="1">
              <a:off x="7623" y="8068"/>
              <a:ext cx="5719" cy="18"/>
            </a:xfrm>
            <a:prstGeom prst="straightConnector1">
              <a:avLst/>
            </a:prstGeom>
            <a:ln w="28575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8" name="文本框 67"/>
            <p:cNvSpPr txBox="1"/>
            <p:nvPr>
              <p:custDataLst>
                <p:tags r:id="rId17"/>
              </p:custDataLst>
            </p:nvPr>
          </p:nvSpPr>
          <p:spPr>
            <a:xfrm>
              <a:off x="9546" y="7583"/>
              <a:ext cx="1640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latin typeface="等线" panose="02010600030101010101" charset="-122"/>
                  <a:ea typeface="等线" panose="02010600030101010101" charset="-122"/>
                </a:rPr>
                <a:t>校验通过</a:t>
              </a:r>
              <a:endParaRPr lang="zh-CN" altLang="en-US" sz="1600" b="1">
                <a:latin typeface="等线" panose="02010600030101010101" charset="-122"/>
                <a:ea typeface="等线" panose="02010600030101010101" charset="-122"/>
              </a:endParaRPr>
            </a:p>
          </p:txBody>
        </p:sp>
        <p:cxnSp>
          <p:nvCxnSpPr>
            <p:cNvPr id="69" name="直接箭头连接符 68"/>
            <p:cNvCxnSpPr/>
            <p:nvPr>
              <p:custDataLst>
                <p:tags r:id="rId18"/>
              </p:custDataLst>
            </p:nvPr>
          </p:nvCxnSpPr>
          <p:spPr>
            <a:xfrm flipH="1">
              <a:off x="7623" y="8721"/>
              <a:ext cx="5720" cy="24"/>
            </a:xfrm>
            <a:prstGeom prst="straightConnector1">
              <a:avLst/>
            </a:prstGeom>
            <a:ln w="28575" cmpd="sng">
              <a:solidFill>
                <a:srgbClr val="C63E3E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0" name="文本框 69"/>
            <p:cNvSpPr txBox="1"/>
            <p:nvPr>
              <p:custDataLst>
                <p:tags r:id="rId19"/>
              </p:custDataLst>
            </p:nvPr>
          </p:nvSpPr>
          <p:spPr>
            <a:xfrm>
              <a:off x="7923" y="8263"/>
              <a:ext cx="5166" cy="41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等线" panose="02010600030101010101" charset="-122"/>
                  <a:ea typeface="等线" panose="02010600030101010101" charset="-122"/>
                </a:rPr>
                <a:t>服务异常，交易阻断（503 Error）</a:t>
              </a:r>
              <a:endParaRPr lang="zh-CN" altLang="en-US" sz="1600" b="1">
                <a:latin typeface="等线" panose="02010600030101010101" charset="-122"/>
                <a:ea typeface="等线" panose="02010600030101010101" charset="-122"/>
              </a:endParaRPr>
            </a:p>
          </p:txBody>
        </p:sp>
        <p:cxnSp>
          <p:nvCxnSpPr>
            <p:cNvPr id="71" name="直接箭头连接符 70"/>
            <p:cNvCxnSpPr/>
            <p:nvPr>
              <p:custDataLst>
                <p:tags r:id="rId20"/>
              </p:custDataLst>
            </p:nvPr>
          </p:nvCxnSpPr>
          <p:spPr>
            <a:xfrm flipV="1">
              <a:off x="7653" y="9447"/>
              <a:ext cx="8532" cy="39"/>
            </a:xfrm>
            <a:prstGeom prst="straightConnector1">
              <a:avLst/>
            </a:prstGeom>
            <a:ln w="28575" cmpd="sng">
              <a:solidFill>
                <a:schemeClr val="accent4">
                  <a:lumMod val="60000"/>
                  <a:lumOff val="40000"/>
                </a:schemeClr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2" name="文本框 71"/>
            <p:cNvSpPr txBox="1"/>
            <p:nvPr>
              <p:custDataLst>
                <p:tags r:id="rId21"/>
              </p:custDataLst>
            </p:nvPr>
          </p:nvSpPr>
          <p:spPr>
            <a:xfrm>
              <a:off x="10530" y="8970"/>
              <a:ext cx="3296" cy="4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buClrTx/>
                <a:buSzTx/>
                <a:buFontTx/>
              </a:pPr>
              <a:r>
                <a:rPr lang="zh-CN" altLang="en-US" sz="1600" b="1">
                  <a:latin typeface="等线" panose="02010600030101010101" charset="-122"/>
                  <a:ea typeface="等线" panose="02010600030101010101" charset="-122"/>
                </a:rPr>
                <a:t>gRPC：折扣后扣款</a:t>
              </a:r>
              <a:endParaRPr lang="zh-CN" altLang="en-US" sz="1600" b="1"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297">
        <p14:flip dir="l"/>
      </p:transition>
    </mc:Choice>
    <mc:Fallback>
      <p:transition spd="slow" advTm="5297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小红书-苗猫大丸子(倒卖必究)-24"/>
          <p:cNvSpPr txBox="1"/>
          <p:nvPr/>
        </p:nvSpPr>
        <p:spPr>
          <a:xfrm>
            <a:off x="5331460" y="2058035"/>
            <a:ext cx="591820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indent="0" algn="just">
              <a:lnSpc>
                <a:spcPct val="100000"/>
              </a:lnSpc>
              <a:defRPr/>
            </a:pPr>
            <a:r>
              <a:rPr lang="en-US" sz="1600" b="1" kern="0">
                <a:solidFill>
                  <a:srgbClr val="333333"/>
                </a:solidFill>
                <a:cs typeface="微软雅黑" panose="020B0503020204020204" charset="-122"/>
              </a:rPr>
              <a:t>金融级整型计算</a:t>
            </a:r>
            <a:endParaRPr lang="en-US" sz="1600" b="1" kern="0">
              <a:solidFill>
                <a:srgbClr val="333333"/>
              </a:solidFill>
              <a:cs typeface="微软雅黑" panose="020B0503020204020204" charset="-122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kern="0">
                <a:solidFill>
                  <a:schemeClr val="tx1"/>
                </a:solidFill>
              </a:rPr>
              <a:t>摒弃传统 </a:t>
            </a:r>
            <a:r>
              <a:rPr lang="en-US" altLang="zh-CN" sz="1600" kern="0">
                <a:solidFill>
                  <a:schemeClr val="tx1"/>
                </a:solidFill>
              </a:rPr>
              <a:t>float64，</a:t>
            </a:r>
            <a:r>
              <a:rPr lang="zh-CN" altLang="en-US" sz="1600" kern="0">
                <a:solidFill>
                  <a:schemeClr val="tx1"/>
                </a:solidFill>
              </a:rPr>
              <a:t>将金额统一换算至“美分(</a:t>
            </a:r>
            <a:r>
              <a:rPr lang="en-US" altLang="zh-CN" sz="1600" kern="0">
                <a:solidFill>
                  <a:schemeClr val="tx1"/>
                </a:solidFill>
              </a:rPr>
              <a:t>Cents)”</a:t>
            </a:r>
            <a:r>
              <a:rPr lang="zh-CN" altLang="en-US" sz="1600" kern="0">
                <a:solidFill>
                  <a:schemeClr val="tx1"/>
                </a:solidFill>
              </a:rPr>
              <a:t>并采用 </a:t>
            </a:r>
            <a:r>
              <a:rPr lang="en-US" altLang="zh-CN" sz="1600" kern="0">
                <a:solidFill>
                  <a:schemeClr val="tx1"/>
                </a:solidFill>
              </a:rPr>
              <a:t>int64 </a:t>
            </a:r>
            <a:r>
              <a:rPr lang="zh-CN" altLang="en-US" sz="1600" kern="0">
                <a:solidFill>
                  <a:schemeClr val="tx1"/>
                </a:solidFill>
              </a:rPr>
              <a:t>运算，以避免浮点数精度丢失问题。</a:t>
            </a:r>
            <a:endParaRPr lang="zh-CN" altLang="en-US" sz="1600" kern="0">
              <a:solidFill>
                <a:schemeClr val="tx1"/>
              </a:solidFill>
            </a:endParaRPr>
          </a:p>
        </p:txBody>
      </p:sp>
      <p:sp>
        <p:nvSpPr>
          <p:cNvPr id="25" name="小红书-苗猫大丸子(倒卖必究)-25"/>
          <p:cNvSpPr/>
          <p:nvPr/>
        </p:nvSpPr>
        <p:spPr bwMode="auto">
          <a:xfrm rot="5400000">
            <a:off x="1013494" y="2441869"/>
            <a:ext cx="3068550" cy="2765640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6E1556"/>
          </a:solidFill>
          <a:ln w="9525" cap="flat">
            <a:noFill/>
            <a:prstDash val="solid"/>
            <a:miter lim="800000"/>
          </a:ln>
        </p:spPr>
        <p:txBody>
          <a:bodyPr vert="horz" wrap="square" lIns="121917" tIns="60958" rIns="121917" bIns="60958" numCol="1" anchor="t" anchorCtr="0" compatLnSpc="1"/>
          <a:lstStyle/>
          <a:p>
            <a:pPr defTabSz="1131570">
              <a:defRPr/>
            </a:pPr>
            <a:endParaRPr lang="zh-CN" altLang="en-US" sz="2300" kern="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6" name="小红书-苗猫大丸子(倒卖必究)-26"/>
          <p:cNvSpPr txBox="1"/>
          <p:nvPr/>
        </p:nvSpPr>
        <p:spPr>
          <a:xfrm>
            <a:off x="1219835" y="3260090"/>
            <a:ext cx="2629535" cy="5645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 defTabSz="1131570">
              <a:defRPr/>
            </a:pPr>
            <a:r>
              <a:rPr lang="zh-CN" altLang="en-US" sz="3200" kern="0">
                <a:solidFill>
                  <a:prstClr val="white"/>
                </a:solidFill>
              </a:rPr>
              <a:t>优惠券微服务</a:t>
            </a:r>
            <a:endParaRPr lang="zh-CN" altLang="en-US" sz="3200" kern="0">
              <a:solidFill>
                <a:prstClr val="white"/>
              </a:solidFill>
            </a:endParaRPr>
          </a:p>
        </p:txBody>
      </p:sp>
      <p:sp>
        <p:nvSpPr>
          <p:cNvPr id="27" name="小红书-苗猫大丸子(倒卖必究)-27"/>
          <p:cNvSpPr txBox="1"/>
          <p:nvPr/>
        </p:nvSpPr>
        <p:spPr>
          <a:xfrm>
            <a:off x="1633671" y="3868678"/>
            <a:ext cx="1828198" cy="6457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 defTabSz="1131570">
              <a:defRPr/>
            </a:pPr>
            <a:r>
              <a:rPr lang="en-US" altLang="zh-CN" sz="2100" kern="0">
                <a:solidFill>
                  <a:prstClr val="white"/>
                </a:solidFill>
              </a:rPr>
              <a:t>Promotion Service</a:t>
            </a:r>
            <a:endParaRPr lang="en-US" altLang="zh-CN" sz="2100" kern="0">
              <a:solidFill>
                <a:prstClr val="white"/>
              </a:solidFill>
            </a:endParaRPr>
          </a:p>
        </p:txBody>
      </p:sp>
      <p:sp>
        <p:nvSpPr>
          <p:cNvPr id="28" name="小红书-苗猫大丸子(倒卖必究)-28"/>
          <p:cNvSpPr/>
          <p:nvPr/>
        </p:nvSpPr>
        <p:spPr bwMode="auto">
          <a:xfrm rot="5400000">
            <a:off x="864487" y="2323272"/>
            <a:ext cx="3366563" cy="3002833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rgbClr val="61134C"/>
            </a:solidFill>
            <a:prstDash val="solid"/>
            <a:miter lim="800000"/>
          </a:ln>
        </p:spPr>
        <p:txBody>
          <a:bodyPr vert="horz" wrap="square" lIns="121917" tIns="60958" rIns="121917" bIns="60958" numCol="1" anchor="t" anchorCtr="0" compatLnSpc="1"/>
          <a:lstStyle/>
          <a:p>
            <a:pPr defTabSz="1131570">
              <a:defRPr/>
            </a:pPr>
            <a:endParaRPr lang="zh-CN" altLang="en-US" sz="2300" kern="0">
              <a:solidFill>
                <a:srgbClr val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9" name="小红书-苗猫大丸子(倒卖必究)-29"/>
          <p:cNvSpPr/>
          <p:nvPr/>
        </p:nvSpPr>
        <p:spPr>
          <a:xfrm>
            <a:off x="3123287" y="2183262"/>
            <a:ext cx="570344" cy="570551"/>
          </a:xfrm>
          <a:prstGeom prst="ellipse">
            <a:avLst/>
          </a:prstGeom>
          <a:solidFill>
            <a:srgbClr val="6E1556"/>
          </a:solidFill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121917" tIns="60958" rIns="121917" bIns="60958" rtlCol="0" anchor="ctr"/>
          <a:lstStyle/>
          <a:p>
            <a:pPr algn="ctr" defTabSz="1131570">
              <a:defRPr/>
            </a:pPr>
            <a:r>
              <a:rPr lang="en-US" altLang="zh-CN" sz="2400" b="1" kern="0">
                <a:solidFill>
                  <a:prstClr val="white"/>
                </a:solidFill>
                <a:latin typeface="微软雅黑" panose="020B0503020204020204" charset="-122"/>
                <a:ea typeface="宋体" panose="02010600030101010101" pitchFamily="2" charset="-122"/>
              </a:rPr>
              <a:t>1</a:t>
            </a:r>
            <a:endParaRPr lang="zh-CN" altLang="en-US" sz="2400" b="1" kern="0">
              <a:solidFill>
                <a:prstClr val="white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30" name="小红书-苗猫大丸子(倒卖必究)-30"/>
          <p:cNvSpPr/>
          <p:nvPr/>
        </p:nvSpPr>
        <p:spPr>
          <a:xfrm>
            <a:off x="3849321" y="3539413"/>
            <a:ext cx="570344" cy="570551"/>
          </a:xfrm>
          <a:prstGeom prst="ellipse">
            <a:avLst/>
          </a:prstGeom>
          <a:solidFill>
            <a:srgbClr val="6E1556"/>
          </a:solidFill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121917" tIns="60958" rIns="121917" bIns="60958" rtlCol="0" anchor="ctr"/>
          <a:lstStyle/>
          <a:p>
            <a:pPr algn="ctr" defTabSz="1131570">
              <a:defRPr/>
            </a:pPr>
            <a:r>
              <a:rPr lang="en-US" altLang="zh-CN" sz="2400" b="1" kern="0">
                <a:solidFill>
                  <a:prstClr val="white"/>
                </a:solidFill>
                <a:latin typeface="微软雅黑" panose="020B0503020204020204" charset="-122"/>
                <a:ea typeface="宋体" panose="02010600030101010101" pitchFamily="2" charset="-122"/>
              </a:rPr>
              <a:t>2</a:t>
            </a:r>
            <a:endParaRPr lang="zh-CN" altLang="en-US" sz="2400" b="1" kern="0">
              <a:solidFill>
                <a:prstClr val="white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31" name="小红书-苗猫大丸子(倒卖必究)-31"/>
          <p:cNvSpPr/>
          <p:nvPr/>
        </p:nvSpPr>
        <p:spPr>
          <a:xfrm>
            <a:off x="3123287" y="4887537"/>
            <a:ext cx="570344" cy="570551"/>
          </a:xfrm>
          <a:prstGeom prst="ellipse">
            <a:avLst/>
          </a:prstGeom>
          <a:solidFill>
            <a:srgbClr val="6E1556"/>
          </a:solidFill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121917" tIns="60958" rIns="121917" bIns="60958" rtlCol="0" anchor="ctr"/>
          <a:lstStyle/>
          <a:p>
            <a:pPr algn="ctr" defTabSz="1131570">
              <a:defRPr/>
            </a:pPr>
            <a:r>
              <a:rPr lang="en-US" altLang="zh-CN" sz="2400" b="1" kern="0">
                <a:solidFill>
                  <a:prstClr val="white"/>
                </a:solidFill>
                <a:latin typeface="微软雅黑" panose="020B0503020204020204" charset="-122"/>
                <a:ea typeface="宋体" panose="02010600030101010101" pitchFamily="2" charset="-122"/>
              </a:rPr>
              <a:t>3</a:t>
            </a:r>
            <a:endParaRPr lang="zh-CN" altLang="en-US" sz="2400" b="1" kern="0">
              <a:solidFill>
                <a:prstClr val="white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693632" y="2232071"/>
            <a:ext cx="1402123" cy="472933"/>
            <a:chOff x="3513818" y="1963801"/>
            <a:chExt cx="1051729" cy="354618"/>
          </a:xfrm>
        </p:grpSpPr>
        <p:cxnSp>
          <p:nvCxnSpPr>
            <p:cNvPr id="33" name="小红书-苗猫大丸子(倒卖必究)-33"/>
            <p:cNvCxnSpPr/>
            <p:nvPr/>
          </p:nvCxnSpPr>
          <p:spPr>
            <a:xfrm>
              <a:off x="3513818" y="2141110"/>
              <a:ext cx="1051729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60000"/>
                  <a:lumOff val="40000"/>
                </a:srgbClr>
              </a:solidFill>
              <a:prstDash val="dash"/>
              <a:tailEnd type="oval"/>
            </a:ln>
            <a:effectLst/>
          </p:spPr>
        </p:cxnSp>
        <p:cxnSp>
          <p:nvCxnSpPr>
            <p:cNvPr id="34" name="小红书-苗猫大丸子(倒卖必究)-34"/>
            <p:cNvCxnSpPr/>
            <p:nvPr/>
          </p:nvCxnSpPr>
          <p:spPr>
            <a:xfrm flipH="1">
              <a:off x="4565547" y="1963801"/>
              <a:ext cx="0" cy="354618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60000"/>
                  <a:lumOff val="40000"/>
                </a:srgbClr>
              </a:solidFill>
              <a:prstDash val="solid"/>
            </a:ln>
            <a:effectLst/>
          </p:spPr>
        </p:cxnSp>
      </p:grpSp>
      <p:sp>
        <p:nvSpPr>
          <p:cNvPr id="35" name="小红书-苗猫大丸子(倒卖必究)-35"/>
          <p:cNvSpPr txBox="1"/>
          <p:nvPr/>
        </p:nvSpPr>
        <p:spPr>
          <a:xfrm>
            <a:off x="6035898" y="3414224"/>
            <a:ext cx="496198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just" defTabSz="914400">
              <a:buClrTx/>
              <a:buSzTx/>
              <a:buFontTx/>
              <a:defRPr/>
            </a:pPr>
            <a:r>
              <a:rPr lang="en-US" sz="1600" b="1" kern="0">
                <a:solidFill>
                  <a:srgbClr val="333333"/>
                </a:solidFill>
                <a:cs typeface="微软雅黑" panose="020B0503020204020204" charset="-122"/>
              </a:rPr>
              <a:t>跨协议轻量级 REST API</a:t>
            </a:r>
            <a:r>
              <a:rPr lang="zh-CN" altLang="en-US" sz="1600" b="1" kern="0">
                <a:solidFill>
                  <a:srgbClr val="333333"/>
                </a:solidFill>
                <a:cs typeface="微软雅黑" panose="020B0503020204020204" charset="-122"/>
              </a:rPr>
              <a:t>设计</a:t>
            </a:r>
            <a:endParaRPr lang="zh-CN" altLang="en-US" sz="1600" b="1" kern="0">
              <a:solidFill>
                <a:srgbClr val="333333"/>
              </a:solidFill>
              <a:cs typeface="微软雅黑" panose="020B0503020204020204" charset="-122"/>
            </a:endParaRPr>
          </a:p>
          <a:p>
            <a:pPr marL="285750" indent="-285750" algn="just" defTabSz="1131570">
              <a:buFont typeface="Arial" panose="020B0604020202020204" pitchFamily="34" charset="0"/>
              <a:buChar char="•"/>
            </a:pPr>
            <a:r>
              <a:rPr lang="zh-CN" altLang="en-US" sz="1600" kern="0">
                <a:solidFill>
                  <a:schemeClr val="tx1"/>
                </a:solidFill>
              </a:rPr>
              <a:t>在全局 </a:t>
            </a:r>
            <a:r>
              <a:rPr lang="en-US" altLang="zh-CN" sz="1600" kern="0">
                <a:solidFill>
                  <a:schemeClr val="tx1"/>
                </a:solidFill>
              </a:rPr>
              <a:t>gRPC </a:t>
            </a:r>
            <a:r>
              <a:rPr lang="zh-CN" altLang="en-US" sz="1600" kern="0">
                <a:solidFill>
                  <a:schemeClr val="tx1"/>
                </a:solidFill>
              </a:rPr>
              <a:t>体系中</a:t>
            </a:r>
            <a:r>
              <a:rPr lang="zh-CN" altLang="en-US" sz="1600" kern="0">
                <a:solidFill>
                  <a:srgbClr val="7030A0"/>
                </a:solidFill>
              </a:rPr>
              <a:t>引入 </a:t>
            </a:r>
            <a:r>
              <a:rPr lang="en-US" altLang="zh-CN" sz="1600" kern="0">
                <a:solidFill>
                  <a:srgbClr val="7030A0"/>
                </a:solidFill>
              </a:rPr>
              <a:t>HTTP/JSON </a:t>
            </a:r>
            <a:r>
              <a:rPr lang="zh-CN" altLang="en-US" sz="1600" kern="0">
                <a:solidFill>
                  <a:srgbClr val="7030A0"/>
                </a:solidFill>
              </a:rPr>
              <a:t>通信机制</a:t>
            </a:r>
            <a:r>
              <a:rPr lang="zh-CN" altLang="en-US" sz="1600" kern="0">
                <a:solidFill>
                  <a:schemeClr val="tx1"/>
                </a:solidFill>
              </a:rPr>
              <a:t>以实现状态解耦，降低接入成本，并为后续压测工具提供标准化的接口支持</a:t>
            </a:r>
            <a:endParaRPr lang="zh-CN" altLang="en-US" sz="1600" kern="0">
              <a:solidFill>
                <a:schemeClr val="tx1"/>
              </a:solidFill>
            </a:endParaRPr>
          </a:p>
        </p:txBody>
      </p:sp>
      <p:sp>
        <p:nvSpPr>
          <p:cNvPr id="36" name="小红书-苗猫大丸子(倒卖必究)-36"/>
          <p:cNvSpPr txBox="1"/>
          <p:nvPr/>
        </p:nvSpPr>
        <p:spPr>
          <a:xfrm>
            <a:off x="5361628" y="4762348"/>
            <a:ext cx="5547371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just" defTabSz="1131570"/>
            <a:r>
              <a:rPr lang="en-US" sz="1600" b="1" kern="0">
                <a:solidFill>
                  <a:srgbClr val="333333"/>
                </a:solidFill>
                <a:cs typeface="微软雅黑" panose="020B0503020204020204" charset="-122"/>
              </a:rPr>
              <a:t>面向云原生的可观测底座</a:t>
            </a:r>
            <a:endParaRPr lang="en-US" sz="1600" b="1" kern="0">
              <a:solidFill>
                <a:srgbClr val="333333"/>
              </a:solidFill>
              <a:cs typeface="微软雅黑" panose="020B0503020204020204" charset="-122"/>
            </a:endParaRPr>
          </a:p>
          <a:p>
            <a:pPr marL="285750" indent="-285750" algn="just" defTabSz="1131570">
              <a:buFont typeface="Arial" panose="020B0604020202020204" pitchFamily="34" charset="0"/>
              <a:buChar char="•"/>
            </a:pPr>
            <a:r>
              <a:rPr lang="zh-CN" altLang="en-US" sz="1600" kern="0">
                <a:solidFill>
                  <a:schemeClr val="tx1"/>
                </a:solidFill>
              </a:rPr>
              <a:t>采用多阶段 </a:t>
            </a:r>
            <a:r>
              <a:rPr lang="en-US" altLang="zh-CN" sz="1600" kern="0">
                <a:solidFill>
                  <a:schemeClr val="tx1"/>
                </a:solidFill>
              </a:rPr>
              <a:t>Docker </a:t>
            </a:r>
            <a:r>
              <a:rPr lang="zh-CN" altLang="en-US" sz="1600" kern="0">
                <a:solidFill>
                  <a:schemeClr val="tx1"/>
                </a:solidFill>
              </a:rPr>
              <a:t>构建精简镜像；服务原生暴露 /</a:t>
            </a:r>
            <a:r>
              <a:rPr lang="en-US" altLang="zh-CN" sz="1600" kern="0">
                <a:solidFill>
                  <a:schemeClr val="tx1"/>
                </a:solidFill>
              </a:rPr>
              <a:t>healthz </a:t>
            </a:r>
            <a:r>
              <a:rPr lang="zh-CN" altLang="en-US" sz="1600" kern="0">
                <a:solidFill>
                  <a:schemeClr val="tx1"/>
                </a:solidFill>
              </a:rPr>
              <a:t>与 /</a:t>
            </a:r>
            <a:r>
              <a:rPr lang="en-US" altLang="zh-CN" sz="1600" kern="0">
                <a:solidFill>
                  <a:schemeClr val="tx1"/>
                </a:solidFill>
              </a:rPr>
              <a:t>metrics </a:t>
            </a:r>
            <a:r>
              <a:rPr lang="zh-CN" altLang="en-US" sz="1600" kern="0">
                <a:solidFill>
                  <a:schemeClr val="tx1"/>
                </a:solidFill>
              </a:rPr>
              <a:t>监控接口</a:t>
            </a:r>
            <a:r>
              <a:rPr lang="zh-CN" altLang="en-US" sz="1600" kern="0">
                <a:solidFill>
                  <a:schemeClr val="tx1"/>
                </a:solidFill>
              </a:rPr>
              <a:t>，实现与 </a:t>
            </a:r>
            <a:r>
              <a:rPr lang="en-US" altLang="zh-CN" sz="1600" kern="0">
                <a:solidFill>
                  <a:schemeClr val="tx1"/>
                </a:solidFill>
              </a:rPr>
              <a:t>K8s </a:t>
            </a:r>
            <a:r>
              <a:rPr lang="zh-CN" altLang="en-US" sz="1600" kern="0">
                <a:solidFill>
                  <a:schemeClr val="tx1"/>
                </a:solidFill>
              </a:rPr>
              <a:t>调度体系及 </a:t>
            </a:r>
            <a:r>
              <a:rPr lang="en-US" altLang="zh-CN" sz="1600" kern="0">
                <a:solidFill>
                  <a:schemeClr val="tx1"/>
                </a:solidFill>
              </a:rPr>
              <a:t>Prometheus </a:t>
            </a:r>
            <a:r>
              <a:rPr lang="zh-CN" altLang="en-US" sz="1600" kern="0">
                <a:solidFill>
                  <a:schemeClr val="tx1"/>
                </a:solidFill>
              </a:rPr>
              <a:t>监控组件的高效集成。</a:t>
            </a:r>
            <a:endParaRPr lang="zh-CN" altLang="en-US" sz="1600" kern="0">
              <a:solidFill>
                <a:schemeClr val="tx1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425763" y="3588221"/>
            <a:ext cx="1402123" cy="472933"/>
            <a:chOff x="3513818" y="1963801"/>
            <a:chExt cx="1051729" cy="354618"/>
          </a:xfrm>
        </p:grpSpPr>
        <p:cxnSp>
          <p:nvCxnSpPr>
            <p:cNvPr id="38" name="小红书-苗猫大丸子(倒卖必究)-38"/>
            <p:cNvCxnSpPr/>
            <p:nvPr/>
          </p:nvCxnSpPr>
          <p:spPr>
            <a:xfrm>
              <a:off x="3513818" y="2141110"/>
              <a:ext cx="1051729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60000"/>
                  <a:lumOff val="40000"/>
                </a:srgbClr>
              </a:solidFill>
              <a:prstDash val="dash"/>
              <a:tailEnd type="oval"/>
            </a:ln>
            <a:effectLst/>
          </p:spPr>
        </p:cxnSp>
        <p:cxnSp>
          <p:nvCxnSpPr>
            <p:cNvPr id="39" name="小红书-苗猫大丸子(倒卖必究)-39"/>
            <p:cNvCxnSpPr/>
            <p:nvPr/>
          </p:nvCxnSpPr>
          <p:spPr>
            <a:xfrm flipH="1">
              <a:off x="4565547" y="1963801"/>
              <a:ext cx="0" cy="354618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60000"/>
                  <a:lumOff val="40000"/>
                </a:srgb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3693632" y="4936345"/>
            <a:ext cx="1402123" cy="472933"/>
            <a:chOff x="3513818" y="1963801"/>
            <a:chExt cx="1051729" cy="354618"/>
          </a:xfrm>
        </p:grpSpPr>
        <p:cxnSp>
          <p:nvCxnSpPr>
            <p:cNvPr id="41" name="小红书-苗猫大丸子(倒卖必究)-41"/>
            <p:cNvCxnSpPr/>
            <p:nvPr/>
          </p:nvCxnSpPr>
          <p:spPr>
            <a:xfrm>
              <a:off x="3513818" y="2141110"/>
              <a:ext cx="1051729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60000"/>
                  <a:lumOff val="40000"/>
                </a:srgbClr>
              </a:solidFill>
              <a:prstDash val="dash"/>
              <a:tailEnd type="oval"/>
            </a:ln>
            <a:effectLst/>
          </p:spPr>
        </p:cxnSp>
        <p:cxnSp>
          <p:nvCxnSpPr>
            <p:cNvPr id="42" name="小红书-苗猫大丸子(倒卖必究)-42"/>
            <p:cNvCxnSpPr/>
            <p:nvPr/>
          </p:nvCxnSpPr>
          <p:spPr>
            <a:xfrm flipH="1">
              <a:off x="4565547" y="1963801"/>
              <a:ext cx="0" cy="354618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lumMod val="60000"/>
                  <a:lumOff val="40000"/>
                </a:srgbClr>
              </a:solidFill>
              <a:prstDash val="solid"/>
            </a:ln>
            <a:effectLst/>
          </p:spPr>
        </p:cxnSp>
      </p:grpSp>
      <p:grpSp>
        <p:nvGrpSpPr>
          <p:cNvPr id="43" name="组合 42"/>
          <p:cNvGrpSpPr/>
          <p:nvPr/>
        </p:nvGrpSpPr>
        <p:grpSpPr>
          <a:xfrm>
            <a:off x="0" y="121768"/>
            <a:ext cx="12192000" cy="792000"/>
            <a:chOff x="0" y="0"/>
            <a:chExt cx="12192000" cy="792000"/>
          </a:xfrm>
        </p:grpSpPr>
        <p:sp>
          <p:nvSpPr>
            <p:cNvPr id="44" name="小红书-苗猫大丸子(倒卖必究)-44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355600" dist="190500" dir="5400000" algn="t" rotWithShape="0">
                <a:prstClr val="black">
                  <a:alpha val="11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cxnSp>
          <p:nvCxnSpPr>
            <p:cNvPr id="45" name="小红书-苗猫大丸子(倒卖必究)-45"/>
            <p:cNvCxnSpPr/>
            <p:nvPr/>
          </p:nvCxnSpPr>
          <p:spPr>
            <a:xfrm>
              <a:off x="4594682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小红书-苗猫大丸子(倒卖必究)-46"/>
            <p:cNvSpPr txBox="1"/>
            <p:nvPr/>
          </p:nvSpPr>
          <p:spPr>
            <a:xfrm>
              <a:off x="3147141" y="211334"/>
              <a:ext cx="11592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b="1" spc="1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zh-CN" altLang="en-US" dirty="0">
                  <a:solidFill>
                    <a:srgbClr val="691452"/>
                  </a:solidFill>
                </a:rPr>
                <a:t>绪论背景</a:t>
              </a:r>
              <a:endParaRPr lang="zh-CN" altLang="en-US" dirty="0">
                <a:solidFill>
                  <a:srgbClr val="691452"/>
                </a:solidFill>
              </a:endParaRPr>
            </a:p>
          </p:txBody>
        </p:sp>
        <p:sp>
          <p:nvSpPr>
            <p:cNvPr id="47" name="小红书-苗猫大丸子(倒卖必究)-47"/>
            <p:cNvSpPr txBox="1"/>
            <p:nvPr/>
          </p:nvSpPr>
          <p:spPr>
            <a:xfrm>
              <a:off x="4882932" y="211334"/>
              <a:ext cx="1159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b="1" spc="1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zh-CN" altLang="en-US" b="0" dirty="0">
                  <a:solidFill>
                    <a:schemeClr val="bg1">
                      <a:lumMod val="65000"/>
                    </a:schemeClr>
                  </a:solidFill>
                </a:rPr>
                <a:t>研究思路</a:t>
              </a:r>
              <a:endParaRPr lang="zh-CN" altLang="en-US" b="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48" name="小红书-苗猫大丸子(倒卖必究)-48"/>
            <p:cNvCxnSpPr/>
            <p:nvPr/>
          </p:nvCxnSpPr>
          <p:spPr>
            <a:xfrm>
              <a:off x="2858891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小红书-苗猫大丸子(倒卖必究)-49"/>
            <p:cNvSpPr txBox="1"/>
            <p:nvPr/>
          </p:nvSpPr>
          <p:spPr>
            <a:xfrm>
              <a:off x="6375067" y="211334"/>
              <a:ext cx="1646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b="1" spc="1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zh-CN" altLang="en-US" b="0" dirty="0">
                  <a:solidFill>
                    <a:schemeClr val="bg1">
                      <a:lumMod val="65000"/>
                    </a:schemeClr>
                  </a:solidFill>
                </a:rPr>
                <a:t>关键技术难点</a:t>
              </a:r>
              <a:endParaRPr lang="zh-CN" altLang="en-US" b="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50" name="小红书-苗猫大丸子(倒卖必究)-50"/>
            <p:cNvCxnSpPr/>
            <p:nvPr/>
          </p:nvCxnSpPr>
          <p:spPr>
            <a:xfrm>
              <a:off x="6330474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小红书-苗猫大丸子(倒卖必究)-51"/>
            <p:cNvSpPr txBox="1"/>
            <p:nvPr/>
          </p:nvSpPr>
          <p:spPr>
            <a:xfrm>
              <a:off x="8354514" y="211334"/>
              <a:ext cx="1159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b="1" spc="1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zh-CN" altLang="en-US" b="0" dirty="0">
                  <a:solidFill>
                    <a:schemeClr val="bg1">
                      <a:lumMod val="65000"/>
                    </a:schemeClr>
                  </a:solidFill>
                </a:rPr>
                <a:t>研究成果</a:t>
              </a:r>
              <a:endParaRPr lang="zh-CN" altLang="en-US" b="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52" name="小红书-苗猫大丸子(倒卖必究)-52"/>
            <p:cNvCxnSpPr/>
            <p:nvPr/>
          </p:nvCxnSpPr>
          <p:spPr>
            <a:xfrm>
              <a:off x="8066265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小红书-苗猫大丸子(倒卖必究)-53"/>
            <p:cNvSpPr txBox="1"/>
            <p:nvPr/>
          </p:nvSpPr>
          <p:spPr>
            <a:xfrm>
              <a:off x="10090304" y="211334"/>
              <a:ext cx="1159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pc="100" dirty="0">
                  <a:solidFill>
                    <a:schemeClr val="bg1">
                      <a:lumMod val="65000"/>
                    </a:schemeClr>
                  </a:solidFill>
                </a:rPr>
                <a:t>论文总结</a:t>
              </a:r>
              <a:endParaRPr lang="zh-CN" altLang="en-US" spc="1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74" name="Picture 73" descr="南开大学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6020" y="158235"/>
              <a:ext cx="2011854" cy="711433"/>
            </a:xfrm>
            <a:prstGeom prst="rect">
              <a:avLst/>
            </a:prstGeom>
          </p:spPr>
        </p:pic>
        <p:cxnSp>
          <p:nvCxnSpPr>
            <p:cNvPr id="55" name="小红书-苗猫大丸子(倒卖必究)-55"/>
            <p:cNvCxnSpPr/>
            <p:nvPr/>
          </p:nvCxnSpPr>
          <p:spPr>
            <a:xfrm>
              <a:off x="9790290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框 76"/>
          <p:cNvSpPr txBox="1"/>
          <p:nvPr/>
        </p:nvSpPr>
        <p:spPr>
          <a:xfrm>
            <a:off x="1006475" y="1345565"/>
            <a:ext cx="42157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核心架构设计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0" name="虚尾箭头 79"/>
          <p:cNvSpPr/>
          <p:nvPr/>
        </p:nvSpPr>
        <p:spPr>
          <a:xfrm>
            <a:off x="541020" y="1334135"/>
            <a:ext cx="466090" cy="508000"/>
          </a:xfrm>
          <a:prstGeom prst="stripedRightArrow">
            <a:avLst/>
          </a:prstGeom>
          <a:solidFill>
            <a:srgbClr val="6E1556">
              <a:alpha val="85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5297">
        <p14:flip dir="l"/>
      </p:transition>
    </mc:Choice>
    <mc:Fallback>
      <p:transition spd="slow" advTm="52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ldLvl="0" animBg="1"/>
      <p:bldP spid="26" grpId="0"/>
      <p:bldP spid="27" grpId="0"/>
      <p:bldP spid="28" grpId="0" bldLvl="0" animBg="1"/>
      <p:bldP spid="29" grpId="0" bldLvl="0" animBg="1"/>
      <p:bldP spid="30" grpId="0" bldLvl="0" animBg="1"/>
      <p:bldP spid="31" grpId="0" bldLvl="0" animBg="1"/>
      <p:bldP spid="3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21768"/>
            <a:ext cx="12192000" cy="869668"/>
            <a:chOff x="0" y="0"/>
            <a:chExt cx="12192000" cy="869668"/>
          </a:xfrm>
        </p:grpSpPr>
        <p:sp>
          <p:nvSpPr>
            <p:cNvPr id="4" name="小红书-苗猫大丸子(倒卖必究)-43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355600" dist="190500" dir="5400000" algn="t" rotWithShape="0">
                <a:prstClr val="black">
                  <a:alpha val="11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cxnSp>
          <p:nvCxnSpPr>
            <p:cNvPr id="5" name="小红书-苗猫大丸子(倒卖必究)-44"/>
            <p:cNvCxnSpPr/>
            <p:nvPr/>
          </p:nvCxnSpPr>
          <p:spPr>
            <a:xfrm>
              <a:off x="4594682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小红书-苗猫大丸子(倒卖必究)-45"/>
            <p:cNvSpPr txBox="1"/>
            <p:nvPr/>
          </p:nvSpPr>
          <p:spPr>
            <a:xfrm>
              <a:off x="3030512" y="211334"/>
              <a:ext cx="1392555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b="1" spc="1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zh-CN" altLang="en-US" dirty="0">
                  <a:solidFill>
                    <a:srgbClr val="691452"/>
                  </a:solidFill>
                </a:rPr>
                <a:t>微服务开发</a:t>
              </a:r>
              <a:endParaRPr lang="zh-CN" altLang="en-US" dirty="0">
                <a:solidFill>
                  <a:srgbClr val="691452"/>
                </a:solidFill>
              </a:endParaRPr>
            </a:p>
          </p:txBody>
        </p:sp>
        <p:cxnSp>
          <p:nvCxnSpPr>
            <p:cNvPr id="7" name="小红书-苗猫大丸子(倒卖必究)-47"/>
            <p:cNvCxnSpPr/>
            <p:nvPr/>
          </p:nvCxnSpPr>
          <p:spPr>
            <a:xfrm>
              <a:off x="2858891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小红书-苗猫大丸子(倒卖必究)-49"/>
            <p:cNvCxnSpPr/>
            <p:nvPr/>
          </p:nvCxnSpPr>
          <p:spPr>
            <a:xfrm>
              <a:off x="6330474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小红书-苗猫大丸子(倒卖必究)-51"/>
            <p:cNvCxnSpPr/>
            <p:nvPr/>
          </p:nvCxnSpPr>
          <p:spPr>
            <a:xfrm>
              <a:off x="8066265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Picture 64" descr="南开大学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6020" y="158235"/>
              <a:ext cx="2011854" cy="711433"/>
            </a:xfrm>
            <a:prstGeom prst="rect">
              <a:avLst/>
            </a:prstGeom>
          </p:spPr>
        </p:pic>
        <p:cxnSp>
          <p:nvCxnSpPr>
            <p:cNvPr id="12" name="小红书-苗猫大丸子(倒卖必究)-54"/>
            <p:cNvCxnSpPr/>
            <p:nvPr/>
          </p:nvCxnSpPr>
          <p:spPr>
            <a:xfrm>
              <a:off x="9790290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AutoShape 3"/>
          <p:cNvSpPr/>
          <p:nvPr>
            <p:custDataLst>
              <p:tags r:id="rId2"/>
            </p:custDataLst>
          </p:nvPr>
        </p:nvSpPr>
        <p:spPr>
          <a:xfrm>
            <a:off x="540385" y="4782820"/>
            <a:ext cx="330835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通过Kubernetes集群部署，promotionservice服务</a:t>
            </a:r>
            <a:r>
              <a:rPr lang="en-US" sz="1400" b="1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成功运行</a:t>
            </a:r>
            <a:r>
              <a:rPr lang="en-US" sz="1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并融入系统基座</a:t>
            </a:r>
            <a:endParaRPr lang="en-US" sz="1100"/>
          </a:p>
        </p:txBody>
      </p:sp>
      <p:sp>
        <p:nvSpPr>
          <p:cNvPr id="23" name="AutoShape 4"/>
          <p:cNvSpPr/>
          <p:nvPr>
            <p:custDataLst>
              <p:tags r:id="rId3"/>
            </p:custDataLst>
          </p:nvPr>
        </p:nvSpPr>
        <p:spPr>
          <a:xfrm>
            <a:off x="4512310" y="4782820"/>
            <a:ext cx="3298825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在前端购物车页面进行功能验证，未输入任何优惠码时，商品总价显示为原价$28.98，符合基础定价逻辑。</a:t>
            </a:r>
            <a:endParaRPr lang="en-US" sz="1100"/>
          </a:p>
        </p:txBody>
      </p:sp>
      <p:sp>
        <p:nvSpPr>
          <p:cNvPr id="24" name="AutoShape 5"/>
          <p:cNvSpPr/>
          <p:nvPr>
            <p:custDataLst>
              <p:tags r:id="rId4"/>
            </p:custDataLst>
          </p:nvPr>
        </p:nvSpPr>
        <p:spPr>
          <a:xfrm>
            <a:off x="8438515" y="4782820"/>
            <a:ext cx="330708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输入优惠码SAVE10后，系统自动计算并抵扣$2.00，最终总价更新为$26.98，优惠逻辑执行精准无误。</a:t>
            </a:r>
            <a:endParaRPr lang="en-US" sz="1100"/>
          </a:p>
        </p:txBody>
      </p:sp>
      <p:grpSp>
        <p:nvGrpSpPr>
          <p:cNvPr id="26" name="组合 25"/>
          <p:cNvGrpSpPr/>
          <p:nvPr>
            <p:custDataLst>
              <p:tags r:id="rId5"/>
            </p:custDataLst>
          </p:nvPr>
        </p:nvGrpSpPr>
        <p:grpSpPr>
          <a:xfrm>
            <a:off x="565785" y="2221230"/>
            <a:ext cx="3282950" cy="2363788"/>
            <a:chOff x="2500" y="2400"/>
            <a:chExt cx="3940" cy="2978"/>
          </a:xfrm>
        </p:grpSpPr>
        <p:sp>
          <p:nvSpPr>
            <p:cNvPr id="27" name="AutoShape 19"/>
            <p:cNvSpPr/>
            <p:nvPr>
              <p:custDataLst>
                <p:tags r:id="rId6"/>
              </p:custDataLst>
            </p:nvPr>
          </p:nvSpPr>
          <p:spPr>
            <a:xfrm>
              <a:off x="2500" y="2400"/>
              <a:ext cx="3940" cy="540"/>
            </a:xfrm>
            <a:prstGeom prst="roundRect">
              <a:avLst>
                <a:gd name="adj" fmla="val 0"/>
              </a:avLst>
            </a:prstGeom>
            <a:solidFill>
              <a:srgbClr val="6E155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25400" tIns="50800" rIns="25400" bIns="50800" rtlCol="0" anchor="ctr" anchorCtr="0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01. 服务成功部署</a:t>
              </a:r>
              <a:endParaRPr lang="en-US" sz="1100"/>
            </a:p>
          </p:txBody>
        </p:sp>
        <p:pic>
          <p:nvPicPr>
            <p:cNvPr id="28" name="Picture 2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rcRect l="-422" t="3294" r="33049"/>
            <a:stretch>
              <a:fillRect/>
            </a:stretch>
          </p:blipFill>
          <p:spPr>
            <a:xfrm>
              <a:off x="2500" y="2970"/>
              <a:ext cx="3940" cy="2408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p:grpSp>
      <p:grpSp>
        <p:nvGrpSpPr>
          <p:cNvPr id="29" name="组合 28"/>
          <p:cNvGrpSpPr/>
          <p:nvPr>
            <p:custDataLst>
              <p:tags r:id="rId9"/>
            </p:custDataLst>
          </p:nvPr>
        </p:nvGrpSpPr>
        <p:grpSpPr>
          <a:xfrm>
            <a:off x="4495800" y="2221230"/>
            <a:ext cx="3284220" cy="2348865"/>
            <a:chOff x="7540" y="2400"/>
            <a:chExt cx="3951" cy="2808"/>
          </a:xfrm>
        </p:grpSpPr>
        <p:sp>
          <p:nvSpPr>
            <p:cNvPr id="30" name="AutoShape 21"/>
            <p:cNvSpPr/>
            <p:nvPr>
              <p:custDataLst>
                <p:tags r:id="rId10"/>
              </p:custDataLst>
            </p:nvPr>
          </p:nvSpPr>
          <p:spPr>
            <a:xfrm>
              <a:off x="7540" y="2400"/>
              <a:ext cx="3940" cy="540"/>
            </a:xfrm>
            <a:prstGeom prst="roundRect">
              <a:avLst>
                <a:gd name="adj" fmla="val 0"/>
              </a:avLst>
            </a:prstGeom>
            <a:solidFill>
              <a:srgbClr val="6E155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25400" tIns="50800" rIns="25400" bIns="50800" rtlCol="0" anchor="ctr" anchorCtr="0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02. 无优惠基础验证</a:t>
              </a:r>
              <a:endParaRPr lang="en-US" sz="1100"/>
            </a:p>
          </p:txBody>
        </p:sp>
        <p:pic>
          <p:nvPicPr>
            <p:cNvPr id="31" name="Picture 2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rcRect l="24926" t="19545" r="27019" b="24976"/>
            <a:stretch>
              <a:fillRect/>
            </a:stretch>
          </p:blipFill>
          <p:spPr>
            <a:xfrm>
              <a:off x="7549" y="2978"/>
              <a:ext cx="3942" cy="223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p:grpSp>
      <p:grpSp>
        <p:nvGrpSpPr>
          <p:cNvPr id="32" name="组合 31"/>
          <p:cNvGrpSpPr/>
          <p:nvPr>
            <p:custDataLst>
              <p:tags r:id="rId13"/>
            </p:custDataLst>
          </p:nvPr>
        </p:nvGrpSpPr>
        <p:grpSpPr>
          <a:xfrm>
            <a:off x="8425815" y="2221230"/>
            <a:ext cx="3283585" cy="2349500"/>
            <a:chOff x="12440" y="2400"/>
            <a:chExt cx="3941" cy="2753"/>
          </a:xfrm>
        </p:grpSpPr>
        <p:sp>
          <p:nvSpPr>
            <p:cNvPr id="33" name="AutoShape 23"/>
            <p:cNvSpPr/>
            <p:nvPr>
              <p:custDataLst>
                <p:tags r:id="rId14"/>
              </p:custDataLst>
            </p:nvPr>
          </p:nvSpPr>
          <p:spPr>
            <a:xfrm>
              <a:off x="12440" y="2400"/>
              <a:ext cx="3940" cy="540"/>
            </a:xfrm>
            <a:prstGeom prst="roundRect">
              <a:avLst>
                <a:gd name="adj" fmla="val 0"/>
              </a:avLst>
            </a:prstGeom>
            <a:solidFill>
              <a:srgbClr val="6E155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25400" tIns="50800" rIns="25400" bIns="50800" rtlCol="0" anchor="ctr" anchorCtr="0"/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03. 优惠码抵扣验证</a:t>
              </a:r>
              <a:endParaRPr lang="en-US" sz="1100"/>
            </a:p>
          </p:txBody>
        </p:sp>
        <p:pic>
          <p:nvPicPr>
            <p:cNvPr id="34" name="Picture 2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rcRect l="23648" t="17359" r="25238" b="23609"/>
            <a:stretch>
              <a:fillRect/>
            </a:stretch>
          </p:blipFill>
          <p:spPr>
            <a:xfrm>
              <a:off x="12451" y="2933"/>
              <a:ext cx="3930" cy="222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p:grpSp>
      <p:cxnSp>
        <p:nvCxnSpPr>
          <p:cNvPr id="55" name="小红书-苗猫大丸子(倒卖必究)-54"/>
          <p:cNvCxnSpPr/>
          <p:nvPr>
            <p:custDataLst>
              <p:tags r:id="rId17"/>
            </p:custDataLst>
          </p:nvPr>
        </p:nvCxnSpPr>
        <p:spPr>
          <a:xfrm flipV="1">
            <a:off x="627698" y="6113463"/>
            <a:ext cx="10738485" cy="5715"/>
          </a:xfrm>
          <a:prstGeom prst="straightConnector1">
            <a:avLst/>
          </a:prstGeom>
          <a:ln>
            <a:solidFill>
              <a:srgbClr val="6E155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>
            <p:custDataLst>
              <p:tags r:id="rId18"/>
            </p:custDataLst>
          </p:nvPr>
        </p:nvGrpSpPr>
        <p:grpSpPr>
          <a:xfrm rot="5400000">
            <a:off x="2016125" y="6000115"/>
            <a:ext cx="241935" cy="241935"/>
            <a:chOff x="4224536" y="4801716"/>
            <a:chExt cx="144016" cy="144016"/>
          </a:xfrm>
        </p:grpSpPr>
        <p:sp>
          <p:nvSpPr>
            <p:cNvPr id="61" name="小红书-苗猫大丸子(倒卖必究)-56"/>
            <p:cNvSpPr/>
            <p:nvPr>
              <p:custDataLst>
                <p:tags r:id="rId19"/>
              </p:custDataLst>
            </p:nvPr>
          </p:nvSpPr>
          <p:spPr>
            <a:xfrm>
              <a:off x="4224536" y="4801716"/>
              <a:ext cx="144016" cy="14401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小红书-苗猫大丸子(倒卖必究)-57"/>
            <p:cNvSpPr/>
            <p:nvPr>
              <p:custDataLst>
                <p:tags r:id="rId20"/>
              </p:custDataLst>
            </p:nvPr>
          </p:nvSpPr>
          <p:spPr>
            <a:xfrm>
              <a:off x="4256832" y="4834012"/>
              <a:ext cx="79424" cy="7942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7" name="组合 66"/>
          <p:cNvGrpSpPr/>
          <p:nvPr>
            <p:custDataLst>
              <p:tags r:id="rId21"/>
            </p:custDataLst>
          </p:nvPr>
        </p:nvGrpSpPr>
        <p:grpSpPr>
          <a:xfrm rot="5400000">
            <a:off x="5976620" y="6003925"/>
            <a:ext cx="269240" cy="256540"/>
            <a:chOff x="4224536" y="4801716"/>
            <a:chExt cx="144016" cy="144016"/>
          </a:xfrm>
        </p:grpSpPr>
        <p:sp>
          <p:nvSpPr>
            <p:cNvPr id="68" name="小红书-苗猫大丸子(倒卖必究)-62"/>
            <p:cNvSpPr/>
            <p:nvPr>
              <p:custDataLst>
                <p:tags r:id="rId22"/>
              </p:custDataLst>
            </p:nvPr>
          </p:nvSpPr>
          <p:spPr>
            <a:xfrm>
              <a:off x="4224536" y="4801716"/>
              <a:ext cx="144016" cy="14401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小红书-苗猫大丸子(倒卖必究)-63"/>
            <p:cNvSpPr/>
            <p:nvPr>
              <p:custDataLst>
                <p:tags r:id="rId23"/>
              </p:custDataLst>
            </p:nvPr>
          </p:nvSpPr>
          <p:spPr>
            <a:xfrm>
              <a:off x="4256832" y="4834012"/>
              <a:ext cx="79424" cy="7942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/>
          <p:cNvGrpSpPr/>
          <p:nvPr>
            <p:custDataLst>
              <p:tags r:id="rId24"/>
            </p:custDataLst>
          </p:nvPr>
        </p:nvGrpSpPr>
        <p:grpSpPr>
          <a:xfrm rot="5400000">
            <a:off x="9900285" y="6017260"/>
            <a:ext cx="249555" cy="231140"/>
            <a:chOff x="4224536" y="4801716"/>
            <a:chExt cx="144016" cy="144016"/>
          </a:xfrm>
        </p:grpSpPr>
        <p:sp>
          <p:nvSpPr>
            <p:cNvPr id="71" name="小红书-苗猫大丸子(倒卖必究)-65"/>
            <p:cNvSpPr/>
            <p:nvPr>
              <p:custDataLst>
                <p:tags r:id="rId25"/>
              </p:custDataLst>
            </p:nvPr>
          </p:nvSpPr>
          <p:spPr>
            <a:xfrm>
              <a:off x="4224536" y="4801716"/>
              <a:ext cx="144016" cy="14401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小红书-苗猫大丸子(倒卖必究)-66"/>
            <p:cNvSpPr/>
            <p:nvPr>
              <p:custDataLst>
                <p:tags r:id="rId26"/>
              </p:custDataLst>
            </p:nvPr>
          </p:nvSpPr>
          <p:spPr>
            <a:xfrm>
              <a:off x="4256832" y="4834012"/>
              <a:ext cx="79424" cy="7942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1006475" y="1345565"/>
            <a:ext cx="31153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实际部署运行效果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0" name="虚尾箭头 79"/>
          <p:cNvSpPr/>
          <p:nvPr/>
        </p:nvSpPr>
        <p:spPr>
          <a:xfrm>
            <a:off x="541020" y="1334135"/>
            <a:ext cx="466090" cy="508000"/>
          </a:xfrm>
          <a:prstGeom prst="stripedRightArrow">
            <a:avLst/>
          </a:prstGeom>
          <a:solidFill>
            <a:srgbClr val="6E1556">
              <a:alpha val="85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89"/>
    </mc:Choice>
    <mc:Fallback>
      <p:transition spd="slow" advTm="2089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2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3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4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5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6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7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8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9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0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1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2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3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4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5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6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7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8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19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20.xml><?xml version="1.0" encoding="utf-8"?>
<p:tagLst xmlns:p="http://schemas.openxmlformats.org/presentationml/2006/main">
  <p:tag name="KSO_WM_DIAGRAM_VIRTUALLY_FRAME" val="{&quot;height&quot;:328.75,&quot;left&quot;:116.75,&quot;top&quot;:164.4,&quot;width&quot;:611.8}"/>
</p:tagLst>
</file>

<file path=ppt/tags/tag21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22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23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24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25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26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27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28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29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0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1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2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3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4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5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6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7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8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39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40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41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42.xml><?xml version="1.0" encoding="utf-8"?>
<p:tagLst xmlns:p="http://schemas.openxmlformats.org/presentationml/2006/main">
  <p:tag name="KSO_WM_DIAGRAM_VIRTUALLY_FRAME" val="{&quot;height&quot;:357.03031496062994,&quot;left&quot;:42.55,&quot;top&quot;:136.41968503937005,&quot;width&quot;:882.3}"/>
</p:tagLst>
</file>

<file path=ppt/tags/tag43.xml><?xml version="1.0" encoding="utf-8"?>
<p:tagLst xmlns:p="http://schemas.openxmlformats.org/presentationml/2006/main">
  <p:tag name="COMMONDATA" val="eyJoZGlkIjoiODFmNmM0ZjY5YjNkOTQ2MTJiZDU0ZDkxMWFhMmEyZmUifQ==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D14"/>
      </a:accent1>
      <a:accent2>
        <a:srgbClr val="00206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">
      <a:majorFont>
        <a:latin typeface="Microsoft YaHei Light"/>
        <a:ea typeface="微软雅黑"/>
        <a:cs typeface=""/>
      </a:majorFont>
      <a:minorFont>
        <a:latin typeface="微软雅黑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</Words>
  <Application>WPS 演示</Application>
  <PresentationFormat>宽屏</PresentationFormat>
  <Paragraphs>87</Paragraphs>
  <Slides>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45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51" baseType="lpstr">
      <vt:lpstr>Arial</vt:lpstr>
      <vt:lpstr>宋体</vt:lpstr>
      <vt:lpstr>Wingdings</vt:lpstr>
      <vt:lpstr>Wingdings 3</vt:lpstr>
      <vt:lpstr>Noto Sans</vt:lpstr>
      <vt:lpstr>Sans Serif Collection</vt:lpstr>
      <vt:lpstr>Calibri</vt:lpstr>
      <vt:lpstr>微软雅黑</vt:lpstr>
      <vt:lpstr>黑体</vt:lpstr>
      <vt:lpstr>等线</vt:lpstr>
      <vt:lpstr>汉仪元隆黑 90W</vt:lpstr>
      <vt:lpstr>思源黑体 CN Normal</vt:lpstr>
      <vt:lpstr>Arial</vt:lpstr>
      <vt:lpstr>微软雅黑 Light</vt:lpstr>
      <vt:lpstr>Arial Unicode MS</vt:lpstr>
      <vt:lpstr>Impact</vt:lpstr>
      <vt:lpstr>Calibri</vt:lpstr>
      <vt:lpstr>方正姚体</vt:lpstr>
      <vt:lpstr>华文黑体</vt:lpstr>
      <vt:lpstr>Verdana</vt:lpstr>
      <vt:lpstr>HelveticaNeueLT Pro 35 Th</vt:lpstr>
      <vt:lpstr>Segoe Print</vt:lpstr>
      <vt:lpstr>Arial Unicode MS</vt:lpstr>
      <vt:lpstr>Signika Negative</vt:lpstr>
      <vt:lpstr>Open Sans</vt:lpstr>
      <vt:lpstr>Open Sans</vt:lpstr>
      <vt:lpstr>Open Sans </vt:lpstr>
      <vt:lpstr>Arial Narrow</vt:lpstr>
      <vt:lpstr>KSOF954951BB</vt:lpstr>
      <vt:lpstr>Verdana</vt:lpstr>
      <vt:lpstr>Wingdings</vt:lpstr>
      <vt:lpstr>Wingdings 3</vt:lpstr>
      <vt:lpstr>华文黑体</vt:lpstr>
      <vt:lpstr>思源黑体 CN Normal</vt:lpstr>
      <vt:lpstr>汉仪元隆黑 90W</vt:lpstr>
      <vt:lpstr>Saturday Sans Regular</vt:lpstr>
      <vt:lpstr>汉仪元隆黑-105W</vt:lpstr>
      <vt:lpstr>方正大黑体_GBK</vt:lpstr>
      <vt:lpstr>清雅黑体</vt:lpstr>
      <vt:lpstr>HelveticaNeueLT Pro 55 Roman</vt:lpstr>
      <vt:lpstr>仿宋</vt:lpstr>
      <vt:lpstr>华文楷体</vt:lpstr>
      <vt:lpstr>Times New Roman</vt:lpstr>
      <vt:lpstr>华文琥珀</vt:lpstr>
      <vt:lpstr>华文中宋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</vt:vector>
  </TitlesOfParts>
  <Company>小红书_苗猫大丸子</Company>
  <LinksUpToDate>false</LinksUpToDate>
  <SharedDoc>false</SharedDoc>
  <HyperlinksChanged>false</HyperlinksChanged>
  <AppVersion>14.0000</AppVersion>
  <Manager>小红书_苗猫大丸子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小红书_苗猫大丸子</dc:title>
  <dc:creator>小红书_苗猫大丸子</dc:creator>
  <cp:keywords>小红书_苗猫大丸子</cp:keywords>
  <dc:description>发现盗卖请搜索小红书'苗猫大丸子'举报 ！</dc:description>
  <dc:subject>小红书_苗猫大丸子</dc:subject>
  <cp:category>小红书_苗猫大丸子</cp:category>
  <cp:lastModifiedBy>沈</cp:lastModifiedBy>
  <cp:revision>5</cp:revision>
  <dcterms:created xsi:type="dcterms:W3CDTF">2020-04-11T01:02:00Z</dcterms:created>
  <dcterms:modified xsi:type="dcterms:W3CDTF">2026-06-06T13:19:53Z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68A5EADC706E4D3C8A8DC9938DFC5AAF</vt:lpwstr>
  </property>
  <property fmtid="{D5CDD505-2E9C-101B-9397-08002B2CF9AE}" pid="3" name="KSOProductBuildVer">
    <vt:lpwstr>2052-12.1.0.26375</vt:lpwstr>
  </property>
</Properties>
</file>