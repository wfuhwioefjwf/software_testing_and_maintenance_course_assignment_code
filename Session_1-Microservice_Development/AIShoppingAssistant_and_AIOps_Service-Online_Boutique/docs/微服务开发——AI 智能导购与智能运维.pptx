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</p:sldMasterIdLst>
  <p:notesMasterIdLst>
    <p:notesMasterId r:id="rId7"/>
  </p:notesMasterIdLst>
  <p:handoutMasterIdLst>
    <p:handoutMasterId r:id="rId8"/>
  </p:handoutMasterIdLst>
  <p:sldIdLst>
    <p:sldId id="282" r:id="rId3"/>
    <p:sldId id="285" r:id="rId4"/>
    <p:sldId id="1757" r:id="rId5"/>
    <p:sldId id="283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3E3E"/>
    <a:srgbClr val="48A1F2"/>
    <a:srgbClr val="525B72"/>
    <a:srgbClr val="FFFFFF"/>
    <a:srgbClr val="8E2A2A"/>
    <a:srgbClr val="6C0000"/>
    <a:srgbClr val="DB8585"/>
    <a:srgbClr val="740000"/>
    <a:srgbClr val="680000"/>
    <a:srgbClr val="5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3" autoAdjust="0"/>
    <p:restoredTop sz="94759" autoAdjust="0"/>
  </p:normalViewPr>
  <p:slideViewPr>
    <p:cSldViewPr snapToGrid="0" showGuides="1">
      <p:cViewPr varScale="1">
        <p:scale>
          <a:sx n="73" d="100"/>
          <a:sy n="73" d="100"/>
        </p:scale>
        <p:origin x="42" y="141"/>
      </p:cViewPr>
      <p:guideLst>
        <p:guide orient="horz" pos="220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50"/>
    </p:cViewPr>
  </p:sorterViewPr>
  <p:notesViewPr>
    <p:cSldViewPr snapToGrid="0">
      <p:cViewPr varScale="1">
        <p:scale>
          <a:sx n="57" d="100"/>
          <a:sy n="57" d="100"/>
        </p:scale>
        <p:origin x="240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5D68A-C9EE-4DB2-A6F8-B810BB6A2D83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9AA3-FC04-49C0-9E86-4D7EC0F81D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118E9-E82C-42B0-A109-929B02C38787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A712A-FD8E-4D24-A708-D217C50E19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B7059-5012-4BE8-B9AC-16C559751B5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3C242-7F95-44DB-80BE-49C4BD2CCD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5.xml"/><Relationship Id="rId7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7.xml"/><Relationship Id="rId4" Type="http://schemas.openxmlformats.org/officeDocument/2006/relationships/tags" Target="../tags/tag6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image" Target="../media/image7.png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image" Target="../media/image2.png"/><Relationship Id="rId2" Type="http://schemas.openxmlformats.org/officeDocument/2006/relationships/tags" Target="../tags/tag8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slideLayout" Target="../slideLayouts/slideLayout27.xml"/><Relationship Id="rId10" Type="http://schemas.openxmlformats.org/officeDocument/2006/relationships/tags" Target="../tags/tag16.xml"/><Relationship Id="rId19" Type="http://schemas.openxmlformats.org/officeDocument/2006/relationships/image" Target="../media/image8.png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616" y="4238014"/>
            <a:ext cx="5097222" cy="2598259"/>
          </a:xfrm>
          <a:prstGeom prst="rect">
            <a:avLst/>
          </a:prstGeom>
        </p:spPr>
      </p:pic>
      <p:sp>
        <p:nvSpPr>
          <p:cNvPr id="31" name="小红书-苗猫大丸子(倒卖必究)-31"/>
          <p:cNvSpPr txBox="1"/>
          <p:nvPr/>
        </p:nvSpPr>
        <p:spPr>
          <a:xfrm>
            <a:off x="4481364" y="2658315"/>
            <a:ext cx="1247976" cy="441536"/>
          </a:xfrm>
          <a:prstGeom prst="rect">
            <a:avLst/>
          </a:prstGeom>
          <a:noFill/>
        </p:spPr>
        <p:txBody>
          <a:bodyPr wrap="square" lIns="117226" tIns="58613" rIns="117226" bIns="58613" rtlCol="0">
            <a:spAutoFit/>
          </a:bodyPr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2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小红书-苗猫大丸子(倒卖必究)-34"/>
          <p:cNvSpPr/>
          <p:nvPr/>
        </p:nvSpPr>
        <p:spPr>
          <a:xfrm>
            <a:off x="3705587" y="1590850"/>
            <a:ext cx="798013" cy="718470"/>
          </a:xfrm>
          <a:prstGeom prst="ellipse">
            <a:avLst/>
          </a:prstGeom>
          <a:solidFill>
            <a:srgbClr val="6E15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zh-CN" altLang="en-US"/>
          </a:p>
        </p:txBody>
      </p:sp>
      <p:sp>
        <p:nvSpPr>
          <p:cNvPr id="35" name="小红书-苗猫大丸子(倒卖必究)-35"/>
          <p:cNvSpPr/>
          <p:nvPr/>
        </p:nvSpPr>
        <p:spPr>
          <a:xfrm>
            <a:off x="4164361" y="1241854"/>
            <a:ext cx="2015963" cy="1416833"/>
          </a:xfrm>
          <a:custGeom>
            <a:avLst/>
            <a:gdLst/>
            <a:ahLst/>
            <a:cxnLst/>
            <a:rect l="l" t="t" r="r" b="b"/>
            <a:pathLst>
              <a:path w="1512169" h="1180421">
                <a:moveTo>
                  <a:pt x="921959" y="0"/>
                </a:moveTo>
                <a:lnTo>
                  <a:pt x="1512169" y="590211"/>
                </a:lnTo>
                <a:lnTo>
                  <a:pt x="921959" y="1180421"/>
                </a:lnTo>
                <a:lnTo>
                  <a:pt x="921959" y="1019229"/>
                </a:lnTo>
                <a:lnTo>
                  <a:pt x="0" y="1019229"/>
                </a:lnTo>
                <a:lnTo>
                  <a:pt x="0" y="927603"/>
                </a:lnTo>
                <a:cubicBezTo>
                  <a:pt x="186338" y="927603"/>
                  <a:pt x="337394" y="776547"/>
                  <a:pt x="337394" y="590210"/>
                </a:cubicBezTo>
                <a:cubicBezTo>
                  <a:pt x="337394" y="403873"/>
                  <a:pt x="186338" y="252817"/>
                  <a:pt x="0" y="252817"/>
                </a:cubicBezTo>
                <a:lnTo>
                  <a:pt x="0" y="161192"/>
                </a:lnTo>
                <a:lnTo>
                  <a:pt x="921959" y="161192"/>
                </a:lnTo>
                <a:close/>
              </a:path>
            </a:pathLst>
          </a:custGeom>
          <a:solidFill>
            <a:srgbClr val="66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zh-CN" altLang="en-US"/>
          </a:p>
        </p:txBody>
      </p:sp>
      <p:sp>
        <p:nvSpPr>
          <p:cNvPr id="36" name="小红书-苗猫大丸子(倒卖必究)-36"/>
          <p:cNvSpPr txBox="1"/>
          <p:nvPr/>
        </p:nvSpPr>
        <p:spPr>
          <a:xfrm>
            <a:off x="255162" y="4045984"/>
            <a:ext cx="6439637" cy="23879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在谷歌云原生微服务标准项目 </a:t>
            </a:r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Online-Boutique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基础上开发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克服国内网络与镜像断代难题，打通阿里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云服务器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公网隧道实现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200000"/>
              </a:lnSpc>
            </a:pP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公网部署和隔离运维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全网可访问</a:t>
            </a:r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http://8.145.53.250/8888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扩展至 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个微服务集群。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 </a:t>
            </a:r>
            <a:r>
              <a:rPr lang="en-US" altLang="zh-CN" sz="1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Skaffold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实现 </a:t>
            </a:r>
            <a:r>
              <a:rPr lang="en-US" altLang="zh-C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Kubernetes </a:t>
            </a:r>
            <a:r>
              <a:rPr lang="zh-CN" altLang="en-US" sz="1600" b="1" dirty="0">
                <a:solidFill>
                  <a:srgbClr val="9B0D14">
                    <a:lumMod val="60000"/>
                    <a:lumOff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自动化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编译和部署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7" name="小红书-苗猫大丸子(倒卖必究)-37"/>
          <p:cNvSpPr txBox="1"/>
          <p:nvPr/>
        </p:nvSpPr>
        <p:spPr>
          <a:xfrm>
            <a:off x="7151188" y="2292868"/>
            <a:ext cx="1247976" cy="441536"/>
          </a:xfrm>
          <a:prstGeom prst="rect">
            <a:avLst/>
          </a:prstGeom>
          <a:noFill/>
        </p:spPr>
        <p:txBody>
          <a:bodyPr wrap="square" lIns="117226" tIns="58613" rIns="117226" bIns="58613" rtlCol="0">
            <a:spAutoFit/>
          </a:bodyPr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小红书-苗猫大丸子(倒卖必究)-41"/>
          <p:cNvSpPr/>
          <p:nvPr/>
        </p:nvSpPr>
        <p:spPr>
          <a:xfrm>
            <a:off x="1033416" y="1274708"/>
            <a:ext cx="1915891" cy="1351123"/>
          </a:xfrm>
          <a:custGeom>
            <a:avLst/>
            <a:gdLst/>
            <a:ahLst/>
            <a:cxnLst/>
            <a:rect l="l" t="t" r="r" b="b"/>
            <a:pathLst>
              <a:path w="1512169" h="1180421">
                <a:moveTo>
                  <a:pt x="921959" y="0"/>
                </a:moveTo>
                <a:lnTo>
                  <a:pt x="1512169" y="590211"/>
                </a:lnTo>
                <a:lnTo>
                  <a:pt x="921959" y="1180421"/>
                </a:lnTo>
                <a:lnTo>
                  <a:pt x="921959" y="1019229"/>
                </a:lnTo>
                <a:lnTo>
                  <a:pt x="0" y="1019229"/>
                </a:lnTo>
                <a:lnTo>
                  <a:pt x="0" y="927603"/>
                </a:lnTo>
                <a:cubicBezTo>
                  <a:pt x="186338" y="927603"/>
                  <a:pt x="337394" y="776547"/>
                  <a:pt x="337394" y="590210"/>
                </a:cubicBezTo>
                <a:cubicBezTo>
                  <a:pt x="337394" y="403873"/>
                  <a:pt x="186338" y="252817"/>
                  <a:pt x="0" y="252817"/>
                </a:cubicBezTo>
                <a:lnTo>
                  <a:pt x="0" y="161192"/>
                </a:lnTo>
                <a:lnTo>
                  <a:pt x="921959" y="161192"/>
                </a:lnTo>
                <a:close/>
              </a:path>
            </a:pathLst>
          </a:custGeom>
          <a:solidFill>
            <a:srgbClr val="AC2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zh-CN" altLang="en-US"/>
          </a:p>
        </p:txBody>
      </p:sp>
      <p:sp>
        <p:nvSpPr>
          <p:cNvPr id="43" name="小红书-苗猫大丸子(倒卖必究)-43"/>
          <p:cNvSpPr txBox="1"/>
          <p:nvPr/>
        </p:nvSpPr>
        <p:spPr>
          <a:xfrm>
            <a:off x="9839137" y="2292868"/>
            <a:ext cx="1247976" cy="441536"/>
          </a:xfrm>
          <a:prstGeom prst="rect">
            <a:avLst/>
          </a:prstGeom>
          <a:noFill/>
        </p:spPr>
        <p:txBody>
          <a:bodyPr wrap="square" lIns="117226" tIns="58613" rIns="117226" bIns="58613" rtlCol="0">
            <a:spAutoFit/>
          </a:bodyPr>
          <a:lstStyle/>
          <a:p>
            <a:pPr algn="ctr"/>
            <a:r>
              <a:rPr lang="zh-CN" altLang="en-US" sz="2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步骤 </a:t>
            </a:r>
            <a:r>
              <a:rPr lang="en-US" altLang="zh-CN" sz="21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21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小红书-苗猫大丸子(倒卖必究)-44"/>
          <p:cNvCxnSpPr/>
          <p:nvPr/>
        </p:nvCxnSpPr>
        <p:spPr>
          <a:xfrm>
            <a:off x="9027015" y="4310241"/>
            <a:ext cx="236376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小红书-苗猫大丸子(倒卖必究)-45"/>
          <p:cNvSpPr txBox="1"/>
          <p:nvPr/>
        </p:nvSpPr>
        <p:spPr>
          <a:xfrm>
            <a:off x="-39484" y="2768667"/>
            <a:ext cx="3768725" cy="1040130"/>
          </a:xfrm>
          <a:prstGeom prst="rect">
            <a:avLst/>
          </a:prstGeom>
          <a:noFill/>
        </p:spPr>
        <p:txBody>
          <a:bodyPr wrap="square" lIns="117226" tIns="58613" rIns="117226" bIns="58613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ShoppingAssistantService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智能导购微服务</a:t>
            </a:r>
            <a:r>
              <a:rPr lang="en-US" altLang="zh-CN" sz="20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</p:txBody>
      </p:sp>
      <p:sp>
        <p:nvSpPr>
          <p:cNvPr id="46" name="小红书-苗猫大丸子(倒卖必究)-46"/>
          <p:cNvSpPr/>
          <p:nvPr/>
        </p:nvSpPr>
        <p:spPr>
          <a:xfrm>
            <a:off x="563934" y="1597834"/>
            <a:ext cx="798013" cy="718470"/>
          </a:xfrm>
          <a:prstGeom prst="ellipse">
            <a:avLst/>
          </a:prstGeom>
          <a:solidFill>
            <a:srgbClr val="AC22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zh-CN" altLang="en-US"/>
          </a:p>
        </p:txBody>
      </p:sp>
      <p:cxnSp>
        <p:nvCxnSpPr>
          <p:cNvPr id="50" name="小红书-苗猫大丸子(倒卖必究)-50"/>
          <p:cNvCxnSpPr/>
          <p:nvPr/>
        </p:nvCxnSpPr>
        <p:spPr>
          <a:xfrm>
            <a:off x="9027014" y="4310241"/>
            <a:ext cx="47399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小红书-苗猫大丸子(倒卖必究)-54"/>
          <p:cNvSpPr/>
          <p:nvPr/>
        </p:nvSpPr>
        <p:spPr bwMode="auto">
          <a:xfrm>
            <a:off x="3929533" y="1716524"/>
            <a:ext cx="401540" cy="398000"/>
          </a:xfrm>
          <a:custGeom>
            <a:avLst/>
            <a:gdLst>
              <a:gd name="T0" fmla="*/ 1478682 w 5929"/>
              <a:gd name="T1" fmla="*/ 292493 h 6526"/>
              <a:gd name="T2" fmla="*/ 1443934 w 5929"/>
              <a:gd name="T3" fmla="*/ 257756 h 6526"/>
              <a:gd name="T4" fmla="*/ 395074 w 5929"/>
              <a:gd name="T5" fmla="*/ 34445 h 6526"/>
              <a:gd name="T6" fmla="*/ 274187 w 5929"/>
              <a:gd name="T7" fmla="*/ 203169 h 6526"/>
              <a:gd name="T8" fmla="*/ 195931 w 5929"/>
              <a:gd name="T9" fmla="*/ 389115 h 6526"/>
              <a:gd name="T10" fmla="*/ 160307 w 5929"/>
              <a:gd name="T11" fmla="*/ 585570 h 6526"/>
              <a:gd name="T12" fmla="*/ 167315 w 5929"/>
              <a:gd name="T13" fmla="*/ 784068 h 6526"/>
              <a:gd name="T14" fmla="*/ 217247 w 5929"/>
              <a:gd name="T15" fmla="*/ 977896 h 6526"/>
              <a:gd name="T16" fmla="*/ 309811 w 5929"/>
              <a:gd name="T17" fmla="*/ 1158880 h 6526"/>
              <a:gd name="T18" fmla="*/ 427778 w 5929"/>
              <a:gd name="T19" fmla="*/ 1303667 h 6526"/>
              <a:gd name="T20" fmla="*/ 591882 w 5929"/>
              <a:gd name="T21" fmla="*/ 1434150 h 6526"/>
              <a:gd name="T22" fmla="*/ 774673 w 5929"/>
              <a:gd name="T23" fmla="*/ 1521723 h 6526"/>
              <a:gd name="T24" fmla="*/ 969436 w 5929"/>
              <a:gd name="T25" fmla="*/ 1566677 h 6526"/>
              <a:gd name="T26" fmla="*/ 1167995 w 5929"/>
              <a:gd name="T27" fmla="*/ 1569012 h 6526"/>
              <a:gd name="T28" fmla="*/ 1363342 w 5929"/>
              <a:gd name="T29" fmla="*/ 1528729 h 6526"/>
              <a:gd name="T30" fmla="*/ 1548178 w 5929"/>
              <a:gd name="T31" fmla="*/ 1445827 h 6526"/>
              <a:gd name="T32" fmla="*/ 1714617 w 5929"/>
              <a:gd name="T33" fmla="*/ 1320014 h 6526"/>
              <a:gd name="T34" fmla="*/ 284991 w 5929"/>
              <a:gd name="T35" fmla="*/ 957754 h 6526"/>
              <a:gd name="T36" fmla="*/ 228635 w 5929"/>
              <a:gd name="T37" fmla="*/ 742033 h 6526"/>
              <a:gd name="T38" fmla="*/ 228051 w 5929"/>
              <a:gd name="T39" fmla="*/ 552292 h 6526"/>
              <a:gd name="T40" fmla="*/ 264843 w 5929"/>
              <a:gd name="T41" fmla="*/ 392326 h 6526"/>
              <a:gd name="T42" fmla="*/ 320323 w 5929"/>
              <a:gd name="T43" fmla="*/ 266221 h 6526"/>
              <a:gd name="T44" fmla="*/ 405002 w 5929"/>
              <a:gd name="T45" fmla="*/ 140992 h 6526"/>
              <a:gd name="T46" fmla="*/ 467782 w 5929"/>
              <a:gd name="T47" fmla="*/ 237030 h 6526"/>
              <a:gd name="T48" fmla="*/ 387190 w 5929"/>
              <a:gd name="T49" fmla="*/ 363719 h 6526"/>
              <a:gd name="T50" fmla="*/ 338427 w 5929"/>
              <a:gd name="T51" fmla="*/ 486029 h 6526"/>
              <a:gd name="T52" fmla="*/ 305723 w 5929"/>
              <a:gd name="T53" fmla="*/ 643076 h 6526"/>
              <a:gd name="T54" fmla="*/ 301635 w 5929"/>
              <a:gd name="T55" fmla="*/ 834569 h 6526"/>
              <a:gd name="T56" fmla="*/ 339887 w 5929"/>
              <a:gd name="T57" fmla="*/ 1060215 h 6526"/>
              <a:gd name="T58" fmla="*/ 566186 w 5929"/>
              <a:gd name="T59" fmla="*/ 1663591 h 6526"/>
              <a:gd name="T60" fmla="*/ 553922 w 5929"/>
              <a:gd name="T61" fmla="*/ 1538946 h 6526"/>
              <a:gd name="T62" fmla="*/ 519466 w 5929"/>
              <a:gd name="T63" fmla="*/ 1472099 h 6526"/>
              <a:gd name="T64" fmla="*/ 482966 w 5929"/>
              <a:gd name="T65" fmla="*/ 1447870 h 6526"/>
              <a:gd name="T66" fmla="*/ 430406 w 5929"/>
              <a:gd name="T67" fmla="*/ 1436778 h 6526"/>
              <a:gd name="T68" fmla="*/ 375802 w 5929"/>
              <a:gd name="T69" fmla="*/ 1439989 h 6526"/>
              <a:gd name="T70" fmla="*/ 330251 w 5929"/>
              <a:gd name="T71" fmla="*/ 1457503 h 6526"/>
              <a:gd name="T72" fmla="*/ 294919 w 5929"/>
              <a:gd name="T73" fmla="*/ 1494576 h 6526"/>
              <a:gd name="T74" fmla="*/ 270683 w 5929"/>
              <a:gd name="T75" fmla="*/ 1579229 h 6526"/>
              <a:gd name="T76" fmla="*/ 256083 w 5929"/>
              <a:gd name="T77" fmla="*/ 1702123 h 6526"/>
              <a:gd name="T78" fmla="*/ 212283 w 5929"/>
              <a:gd name="T79" fmla="*/ 1758462 h 6526"/>
              <a:gd name="T80" fmla="*/ 163811 w 5929"/>
              <a:gd name="T81" fmla="*/ 1784150 h 6526"/>
              <a:gd name="T82" fmla="*/ 70956 w 5929"/>
              <a:gd name="T83" fmla="*/ 1795826 h 6526"/>
              <a:gd name="T84" fmla="*/ 27448 w 5929"/>
              <a:gd name="T85" fmla="*/ 1814216 h 6526"/>
              <a:gd name="T86" fmla="*/ 5840 w 5929"/>
              <a:gd name="T87" fmla="*/ 1856251 h 6526"/>
              <a:gd name="T88" fmla="*/ 831905 w 5929"/>
              <a:gd name="T89" fmla="*/ 1895367 h 6526"/>
              <a:gd name="T90" fmla="*/ 818765 w 5929"/>
              <a:gd name="T91" fmla="*/ 1833190 h 6526"/>
              <a:gd name="T92" fmla="*/ 790733 w 5929"/>
              <a:gd name="T93" fmla="*/ 1804291 h 6526"/>
              <a:gd name="T94" fmla="*/ 711601 w 5929"/>
              <a:gd name="T95" fmla="*/ 1791739 h 6526"/>
              <a:gd name="T96" fmla="*/ 646485 w 5929"/>
              <a:gd name="T97" fmla="*/ 1775976 h 6526"/>
              <a:gd name="T98" fmla="*/ 599766 w 5929"/>
              <a:gd name="T99" fmla="*/ 1738028 h 6526"/>
              <a:gd name="T100" fmla="*/ 299299 w 5929"/>
              <a:gd name="T101" fmla="*/ 1676727 h 6526"/>
              <a:gd name="T102" fmla="*/ 297255 w 5929"/>
              <a:gd name="T103" fmla="*/ 1599663 h 6526"/>
              <a:gd name="T104" fmla="*/ 311563 w 5929"/>
              <a:gd name="T105" fmla="*/ 1537486 h 6526"/>
              <a:gd name="T106" fmla="*/ 336967 w 5929"/>
              <a:gd name="T107" fmla="*/ 1496619 h 6526"/>
              <a:gd name="T108" fmla="*/ 397702 w 5929"/>
              <a:gd name="T109" fmla="*/ 1461590 h 6526"/>
              <a:gd name="T110" fmla="*/ 430990 w 5929"/>
              <a:gd name="T111" fmla="*/ 1461006 h 6526"/>
              <a:gd name="T112" fmla="*/ 366751 w 5929"/>
              <a:gd name="T113" fmla="*/ 1534859 h 6526"/>
              <a:gd name="T114" fmla="*/ 315359 w 5929"/>
              <a:gd name="T115" fmla="*/ 1632941 h 652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5929" h="6526">
                <a:moveTo>
                  <a:pt x="5068" y="3604"/>
                </a:moveTo>
                <a:lnTo>
                  <a:pt x="5081" y="1083"/>
                </a:lnTo>
                <a:lnTo>
                  <a:pt x="5080" y="1071"/>
                </a:lnTo>
                <a:lnTo>
                  <a:pt x="5079" y="1061"/>
                </a:lnTo>
                <a:lnTo>
                  <a:pt x="5075" y="1041"/>
                </a:lnTo>
                <a:lnTo>
                  <a:pt x="5071" y="1022"/>
                </a:lnTo>
                <a:lnTo>
                  <a:pt x="5064" y="1002"/>
                </a:lnTo>
                <a:lnTo>
                  <a:pt x="5056" y="986"/>
                </a:lnTo>
                <a:lnTo>
                  <a:pt x="5047" y="969"/>
                </a:lnTo>
                <a:lnTo>
                  <a:pt x="5036" y="953"/>
                </a:lnTo>
                <a:lnTo>
                  <a:pt x="5024" y="937"/>
                </a:lnTo>
                <a:lnTo>
                  <a:pt x="5010" y="923"/>
                </a:lnTo>
                <a:lnTo>
                  <a:pt x="4995" y="911"/>
                </a:lnTo>
                <a:lnTo>
                  <a:pt x="4980" y="901"/>
                </a:lnTo>
                <a:lnTo>
                  <a:pt x="4963" y="891"/>
                </a:lnTo>
                <a:lnTo>
                  <a:pt x="4945" y="883"/>
                </a:lnTo>
                <a:lnTo>
                  <a:pt x="4925" y="876"/>
                </a:lnTo>
                <a:lnTo>
                  <a:pt x="4906" y="872"/>
                </a:lnTo>
                <a:lnTo>
                  <a:pt x="4887" y="869"/>
                </a:lnTo>
                <a:lnTo>
                  <a:pt x="4866" y="868"/>
                </a:lnTo>
                <a:lnTo>
                  <a:pt x="2333" y="868"/>
                </a:lnTo>
                <a:lnTo>
                  <a:pt x="1465" y="0"/>
                </a:lnTo>
                <a:lnTo>
                  <a:pt x="1409" y="58"/>
                </a:lnTo>
                <a:lnTo>
                  <a:pt x="1353" y="118"/>
                </a:lnTo>
                <a:lnTo>
                  <a:pt x="1300" y="179"/>
                </a:lnTo>
                <a:lnTo>
                  <a:pt x="1249" y="240"/>
                </a:lnTo>
                <a:lnTo>
                  <a:pt x="1199" y="302"/>
                </a:lnTo>
                <a:lnTo>
                  <a:pt x="1152" y="366"/>
                </a:lnTo>
                <a:lnTo>
                  <a:pt x="1105" y="430"/>
                </a:lnTo>
                <a:lnTo>
                  <a:pt x="1061" y="495"/>
                </a:lnTo>
                <a:lnTo>
                  <a:pt x="1018" y="561"/>
                </a:lnTo>
                <a:lnTo>
                  <a:pt x="978" y="628"/>
                </a:lnTo>
                <a:lnTo>
                  <a:pt x="939" y="696"/>
                </a:lnTo>
                <a:lnTo>
                  <a:pt x="902" y="764"/>
                </a:lnTo>
                <a:lnTo>
                  <a:pt x="867" y="833"/>
                </a:lnTo>
                <a:lnTo>
                  <a:pt x="833" y="903"/>
                </a:lnTo>
                <a:lnTo>
                  <a:pt x="802" y="973"/>
                </a:lnTo>
                <a:lnTo>
                  <a:pt x="772" y="1044"/>
                </a:lnTo>
                <a:lnTo>
                  <a:pt x="744" y="1116"/>
                </a:lnTo>
                <a:lnTo>
                  <a:pt x="718" y="1188"/>
                </a:lnTo>
                <a:lnTo>
                  <a:pt x="693" y="1261"/>
                </a:lnTo>
                <a:lnTo>
                  <a:pt x="671" y="1333"/>
                </a:lnTo>
                <a:lnTo>
                  <a:pt x="651" y="1406"/>
                </a:lnTo>
                <a:lnTo>
                  <a:pt x="631" y="1481"/>
                </a:lnTo>
                <a:lnTo>
                  <a:pt x="614" y="1555"/>
                </a:lnTo>
                <a:lnTo>
                  <a:pt x="599" y="1630"/>
                </a:lnTo>
                <a:lnTo>
                  <a:pt x="585" y="1704"/>
                </a:lnTo>
                <a:lnTo>
                  <a:pt x="573" y="1779"/>
                </a:lnTo>
                <a:lnTo>
                  <a:pt x="564" y="1854"/>
                </a:lnTo>
                <a:lnTo>
                  <a:pt x="555" y="1930"/>
                </a:lnTo>
                <a:lnTo>
                  <a:pt x="549" y="2006"/>
                </a:lnTo>
                <a:lnTo>
                  <a:pt x="545" y="2081"/>
                </a:lnTo>
                <a:lnTo>
                  <a:pt x="541" y="2157"/>
                </a:lnTo>
                <a:lnTo>
                  <a:pt x="541" y="2232"/>
                </a:lnTo>
                <a:lnTo>
                  <a:pt x="541" y="2308"/>
                </a:lnTo>
                <a:lnTo>
                  <a:pt x="545" y="2384"/>
                </a:lnTo>
                <a:lnTo>
                  <a:pt x="549" y="2459"/>
                </a:lnTo>
                <a:lnTo>
                  <a:pt x="555" y="2535"/>
                </a:lnTo>
                <a:lnTo>
                  <a:pt x="564" y="2610"/>
                </a:lnTo>
                <a:lnTo>
                  <a:pt x="573" y="2686"/>
                </a:lnTo>
                <a:lnTo>
                  <a:pt x="585" y="2761"/>
                </a:lnTo>
                <a:lnTo>
                  <a:pt x="599" y="2835"/>
                </a:lnTo>
                <a:lnTo>
                  <a:pt x="614" y="2910"/>
                </a:lnTo>
                <a:lnTo>
                  <a:pt x="631" y="2984"/>
                </a:lnTo>
                <a:lnTo>
                  <a:pt x="651" y="3058"/>
                </a:lnTo>
                <a:lnTo>
                  <a:pt x="671" y="3132"/>
                </a:lnTo>
                <a:lnTo>
                  <a:pt x="693" y="3204"/>
                </a:lnTo>
                <a:lnTo>
                  <a:pt x="718" y="3277"/>
                </a:lnTo>
                <a:lnTo>
                  <a:pt x="744" y="3350"/>
                </a:lnTo>
                <a:lnTo>
                  <a:pt x="772" y="3421"/>
                </a:lnTo>
                <a:lnTo>
                  <a:pt x="802" y="3492"/>
                </a:lnTo>
                <a:lnTo>
                  <a:pt x="833" y="3562"/>
                </a:lnTo>
                <a:lnTo>
                  <a:pt x="867" y="3632"/>
                </a:lnTo>
                <a:lnTo>
                  <a:pt x="902" y="3701"/>
                </a:lnTo>
                <a:lnTo>
                  <a:pt x="939" y="3769"/>
                </a:lnTo>
                <a:lnTo>
                  <a:pt x="978" y="3837"/>
                </a:lnTo>
                <a:lnTo>
                  <a:pt x="1018" y="3904"/>
                </a:lnTo>
                <a:lnTo>
                  <a:pt x="1061" y="3970"/>
                </a:lnTo>
                <a:lnTo>
                  <a:pt x="1105" y="4036"/>
                </a:lnTo>
                <a:lnTo>
                  <a:pt x="1152" y="4100"/>
                </a:lnTo>
                <a:lnTo>
                  <a:pt x="1199" y="4163"/>
                </a:lnTo>
                <a:lnTo>
                  <a:pt x="1249" y="4225"/>
                </a:lnTo>
                <a:lnTo>
                  <a:pt x="1300" y="4287"/>
                </a:lnTo>
                <a:lnTo>
                  <a:pt x="1353" y="4347"/>
                </a:lnTo>
                <a:lnTo>
                  <a:pt x="1409" y="4407"/>
                </a:lnTo>
                <a:lnTo>
                  <a:pt x="1465" y="4466"/>
                </a:lnTo>
                <a:lnTo>
                  <a:pt x="1524" y="4522"/>
                </a:lnTo>
                <a:lnTo>
                  <a:pt x="1584" y="4577"/>
                </a:lnTo>
                <a:lnTo>
                  <a:pt x="1643" y="4630"/>
                </a:lnTo>
                <a:lnTo>
                  <a:pt x="1705" y="4682"/>
                </a:lnTo>
                <a:lnTo>
                  <a:pt x="1768" y="4732"/>
                </a:lnTo>
                <a:lnTo>
                  <a:pt x="1831" y="4779"/>
                </a:lnTo>
                <a:lnTo>
                  <a:pt x="1895" y="4826"/>
                </a:lnTo>
                <a:lnTo>
                  <a:pt x="1960" y="4870"/>
                </a:lnTo>
                <a:lnTo>
                  <a:pt x="2027" y="4913"/>
                </a:lnTo>
                <a:lnTo>
                  <a:pt x="2094" y="4953"/>
                </a:lnTo>
                <a:lnTo>
                  <a:pt x="2161" y="4991"/>
                </a:lnTo>
                <a:lnTo>
                  <a:pt x="2230" y="5029"/>
                </a:lnTo>
                <a:lnTo>
                  <a:pt x="2299" y="5064"/>
                </a:lnTo>
                <a:lnTo>
                  <a:pt x="2369" y="5098"/>
                </a:lnTo>
                <a:lnTo>
                  <a:pt x="2439" y="5129"/>
                </a:lnTo>
                <a:lnTo>
                  <a:pt x="2510" y="5159"/>
                </a:lnTo>
                <a:lnTo>
                  <a:pt x="2581" y="5187"/>
                </a:lnTo>
                <a:lnTo>
                  <a:pt x="2653" y="5213"/>
                </a:lnTo>
                <a:lnTo>
                  <a:pt x="2725" y="5237"/>
                </a:lnTo>
                <a:lnTo>
                  <a:pt x="2799" y="5260"/>
                </a:lnTo>
                <a:lnTo>
                  <a:pt x="2872" y="5280"/>
                </a:lnTo>
                <a:lnTo>
                  <a:pt x="2947" y="5300"/>
                </a:lnTo>
                <a:lnTo>
                  <a:pt x="3020" y="5316"/>
                </a:lnTo>
                <a:lnTo>
                  <a:pt x="3094" y="5332"/>
                </a:lnTo>
                <a:lnTo>
                  <a:pt x="3170" y="5346"/>
                </a:lnTo>
                <a:lnTo>
                  <a:pt x="3244" y="5357"/>
                </a:lnTo>
                <a:lnTo>
                  <a:pt x="3320" y="5367"/>
                </a:lnTo>
                <a:lnTo>
                  <a:pt x="3396" y="5375"/>
                </a:lnTo>
                <a:lnTo>
                  <a:pt x="3471" y="5382"/>
                </a:lnTo>
                <a:lnTo>
                  <a:pt x="3547" y="5386"/>
                </a:lnTo>
                <a:lnTo>
                  <a:pt x="3622" y="5389"/>
                </a:lnTo>
                <a:lnTo>
                  <a:pt x="3698" y="5390"/>
                </a:lnTo>
                <a:lnTo>
                  <a:pt x="3773" y="5389"/>
                </a:lnTo>
                <a:lnTo>
                  <a:pt x="3849" y="5386"/>
                </a:lnTo>
                <a:lnTo>
                  <a:pt x="3925" y="5382"/>
                </a:lnTo>
                <a:lnTo>
                  <a:pt x="4000" y="5375"/>
                </a:lnTo>
                <a:lnTo>
                  <a:pt x="4076" y="5367"/>
                </a:lnTo>
                <a:lnTo>
                  <a:pt x="4151" y="5357"/>
                </a:lnTo>
                <a:lnTo>
                  <a:pt x="4226" y="5346"/>
                </a:lnTo>
                <a:lnTo>
                  <a:pt x="4300" y="5332"/>
                </a:lnTo>
                <a:lnTo>
                  <a:pt x="4375" y="5316"/>
                </a:lnTo>
                <a:lnTo>
                  <a:pt x="4449" y="5300"/>
                </a:lnTo>
                <a:lnTo>
                  <a:pt x="4523" y="5280"/>
                </a:lnTo>
                <a:lnTo>
                  <a:pt x="4596" y="5260"/>
                </a:lnTo>
                <a:lnTo>
                  <a:pt x="4669" y="5237"/>
                </a:lnTo>
                <a:lnTo>
                  <a:pt x="4741" y="5213"/>
                </a:lnTo>
                <a:lnTo>
                  <a:pt x="4814" y="5187"/>
                </a:lnTo>
                <a:lnTo>
                  <a:pt x="4886" y="5159"/>
                </a:lnTo>
                <a:lnTo>
                  <a:pt x="4957" y="5129"/>
                </a:lnTo>
                <a:lnTo>
                  <a:pt x="5027" y="5098"/>
                </a:lnTo>
                <a:lnTo>
                  <a:pt x="5097" y="5064"/>
                </a:lnTo>
                <a:lnTo>
                  <a:pt x="5166" y="5029"/>
                </a:lnTo>
                <a:lnTo>
                  <a:pt x="5235" y="4991"/>
                </a:lnTo>
                <a:lnTo>
                  <a:pt x="5302" y="4953"/>
                </a:lnTo>
                <a:lnTo>
                  <a:pt x="5369" y="4913"/>
                </a:lnTo>
                <a:lnTo>
                  <a:pt x="5434" y="4870"/>
                </a:lnTo>
                <a:lnTo>
                  <a:pt x="5500" y="4826"/>
                </a:lnTo>
                <a:lnTo>
                  <a:pt x="5564" y="4779"/>
                </a:lnTo>
                <a:lnTo>
                  <a:pt x="5627" y="4732"/>
                </a:lnTo>
                <a:lnTo>
                  <a:pt x="5690" y="4682"/>
                </a:lnTo>
                <a:lnTo>
                  <a:pt x="5751" y="4630"/>
                </a:lnTo>
                <a:lnTo>
                  <a:pt x="5812" y="4577"/>
                </a:lnTo>
                <a:lnTo>
                  <a:pt x="5872" y="4522"/>
                </a:lnTo>
                <a:lnTo>
                  <a:pt x="5929" y="4466"/>
                </a:lnTo>
                <a:lnTo>
                  <a:pt x="5068" y="3604"/>
                </a:lnTo>
                <a:close/>
                <a:moveTo>
                  <a:pt x="1189" y="3725"/>
                </a:moveTo>
                <a:lnTo>
                  <a:pt x="1189" y="3725"/>
                </a:lnTo>
                <a:lnTo>
                  <a:pt x="1139" y="3634"/>
                </a:lnTo>
                <a:lnTo>
                  <a:pt x="1094" y="3545"/>
                </a:lnTo>
                <a:lnTo>
                  <a:pt x="1051" y="3456"/>
                </a:lnTo>
                <a:lnTo>
                  <a:pt x="1012" y="3368"/>
                </a:lnTo>
                <a:lnTo>
                  <a:pt x="976" y="3281"/>
                </a:lnTo>
                <a:lnTo>
                  <a:pt x="943" y="3195"/>
                </a:lnTo>
                <a:lnTo>
                  <a:pt x="913" y="3109"/>
                </a:lnTo>
                <a:lnTo>
                  <a:pt x="886" y="3026"/>
                </a:lnTo>
                <a:lnTo>
                  <a:pt x="863" y="2942"/>
                </a:lnTo>
                <a:lnTo>
                  <a:pt x="841" y="2860"/>
                </a:lnTo>
                <a:lnTo>
                  <a:pt x="823" y="2779"/>
                </a:lnTo>
                <a:lnTo>
                  <a:pt x="807" y="2698"/>
                </a:lnTo>
                <a:lnTo>
                  <a:pt x="794" y="2620"/>
                </a:lnTo>
                <a:lnTo>
                  <a:pt x="783" y="2542"/>
                </a:lnTo>
                <a:lnTo>
                  <a:pt x="775" y="2465"/>
                </a:lnTo>
                <a:lnTo>
                  <a:pt x="768" y="2389"/>
                </a:lnTo>
                <a:lnTo>
                  <a:pt x="765" y="2315"/>
                </a:lnTo>
                <a:lnTo>
                  <a:pt x="762" y="2241"/>
                </a:lnTo>
                <a:lnTo>
                  <a:pt x="762" y="2169"/>
                </a:lnTo>
                <a:lnTo>
                  <a:pt x="765" y="2098"/>
                </a:lnTo>
                <a:lnTo>
                  <a:pt x="768" y="2028"/>
                </a:lnTo>
                <a:lnTo>
                  <a:pt x="774" y="1959"/>
                </a:lnTo>
                <a:lnTo>
                  <a:pt x="781" y="1892"/>
                </a:lnTo>
                <a:lnTo>
                  <a:pt x="789" y="1826"/>
                </a:lnTo>
                <a:lnTo>
                  <a:pt x="801" y="1761"/>
                </a:lnTo>
                <a:lnTo>
                  <a:pt x="812" y="1698"/>
                </a:lnTo>
                <a:lnTo>
                  <a:pt x="824" y="1636"/>
                </a:lnTo>
                <a:lnTo>
                  <a:pt x="839" y="1575"/>
                </a:lnTo>
                <a:lnTo>
                  <a:pt x="855" y="1515"/>
                </a:lnTo>
                <a:lnTo>
                  <a:pt x="871" y="1456"/>
                </a:lnTo>
                <a:lnTo>
                  <a:pt x="889" y="1400"/>
                </a:lnTo>
                <a:lnTo>
                  <a:pt x="907" y="1344"/>
                </a:lnTo>
                <a:lnTo>
                  <a:pt x="926" y="1290"/>
                </a:lnTo>
                <a:lnTo>
                  <a:pt x="946" y="1238"/>
                </a:lnTo>
                <a:lnTo>
                  <a:pt x="966" y="1186"/>
                </a:lnTo>
                <a:lnTo>
                  <a:pt x="987" y="1137"/>
                </a:lnTo>
                <a:lnTo>
                  <a:pt x="1008" y="1089"/>
                </a:lnTo>
                <a:lnTo>
                  <a:pt x="1031" y="1043"/>
                </a:lnTo>
                <a:lnTo>
                  <a:pt x="1052" y="998"/>
                </a:lnTo>
                <a:lnTo>
                  <a:pt x="1075" y="954"/>
                </a:lnTo>
                <a:lnTo>
                  <a:pt x="1097" y="912"/>
                </a:lnTo>
                <a:lnTo>
                  <a:pt x="1120" y="872"/>
                </a:lnTo>
                <a:lnTo>
                  <a:pt x="1142" y="833"/>
                </a:lnTo>
                <a:lnTo>
                  <a:pt x="1164" y="796"/>
                </a:lnTo>
                <a:lnTo>
                  <a:pt x="1208" y="727"/>
                </a:lnTo>
                <a:lnTo>
                  <a:pt x="1250" y="664"/>
                </a:lnTo>
                <a:lnTo>
                  <a:pt x="1289" y="609"/>
                </a:lnTo>
                <a:lnTo>
                  <a:pt x="1326" y="559"/>
                </a:lnTo>
                <a:lnTo>
                  <a:pt x="1359" y="517"/>
                </a:lnTo>
                <a:lnTo>
                  <a:pt x="1387" y="483"/>
                </a:lnTo>
                <a:lnTo>
                  <a:pt x="1411" y="456"/>
                </a:lnTo>
                <a:lnTo>
                  <a:pt x="1428" y="437"/>
                </a:lnTo>
                <a:lnTo>
                  <a:pt x="1443" y="421"/>
                </a:lnTo>
                <a:lnTo>
                  <a:pt x="1698" y="705"/>
                </a:lnTo>
                <a:lnTo>
                  <a:pt x="1685" y="717"/>
                </a:lnTo>
                <a:lnTo>
                  <a:pt x="1652" y="753"/>
                </a:lnTo>
                <a:lnTo>
                  <a:pt x="1629" y="779"/>
                </a:lnTo>
                <a:lnTo>
                  <a:pt x="1602" y="812"/>
                </a:lnTo>
                <a:lnTo>
                  <a:pt x="1571" y="850"/>
                </a:lnTo>
                <a:lnTo>
                  <a:pt x="1537" y="895"/>
                </a:lnTo>
                <a:lnTo>
                  <a:pt x="1502" y="946"/>
                </a:lnTo>
                <a:lnTo>
                  <a:pt x="1465" y="1002"/>
                </a:lnTo>
                <a:lnTo>
                  <a:pt x="1426" y="1065"/>
                </a:lnTo>
                <a:lnTo>
                  <a:pt x="1386" y="1132"/>
                </a:lnTo>
                <a:lnTo>
                  <a:pt x="1367" y="1168"/>
                </a:lnTo>
                <a:lnTo>
                  <a:pt x="1347" y="1207"/>
                </a:lnTo>
                <a:lnTo>
                  <a:pt x="1326" y="1246"/>
                </a:lnTo>
                <a:lnTo>
                  <a:pt x="1307" y="1287"/>
                </a:lnTo>
                <a:lnTo>
                  <a:pt x="1287" y="1329"/>
                </a:lnTo>
                <a:lnTo>
                  <a:pt x="1268" y="1373"/>
                </a:lnTo>
                <a:lnTo>
                  <a:pt x="1249" y="1418"/>
                </a:lnTo>
                <a:lnTo>
                  <a:pt x="1230" y="1464"/>
                </a:lnTo>
                <a:lnTo>
                  <a:pt x="1211" y="1511"/>
                </a:lnTo>
                <a:lnTo>
                  <a:pt x="1194" y="1561"/>
                </a:lnTo>
                <a:lnTo>
                  <a:pt x="1176" y="1612"/>
                </a:lnTo>
                <a:lnTo>
                  <a:pt x="1159" y="1665"/>
                </a:lnTo>
                <a:lnTo>
                  <a:pt x="1144" y="1719"/>
                </a:lnTo>
                <a:lnTo>
                  <a:pt x="1128" y="1774"/>
                </a:lnTo>
                <a:lnTo>
                  <a:pt x="1114" y="1831"/>
                </a:lnTo>
                <a:lnTo>
                  <a:pt x="1100" y="1889"/>
                </a:lnTo>
                <a:lnTo>
                  <a:pt x="1087" y="1949"/>
                </a:lnTo>
                <a:lnTo>
                  <a:pt x="1076" y="2010"/>
                </a:lnTo>
                <a:lnTo>
                  <a:pt x="1065" y="2073"/>
                </a:lnTo>
                <a:lnTo>
                  <a:pt x="1056" y="2137"/>
                </a:lnTo>
                <a:lnTo>
                  <a:pt x="1047" y="2203"/>
                </a:lnTo>
                <a:lnTo>
                  <a:pt x="1040" y="2270"/>
                </a:lnTo>
                <a:lnTo>
                  <a:pt x="1033" y="2339"/>
                </a:lnTo>
                <a:lnTo>
                  <a:pt x="1029" y="2408"/>
                </a:lnTo>
                <a:lnTo>
                  <a:pt x="1025" y="2480"/>
                </a:lnTo>
                <a:lnTo>
                  <a:pt x="1024" y="2553"/>
                </a:lnTo>
                <a:lnTo>
                  <a:pt x="1024" y="2626"/>
                </a:lnTo>
                <a:lnTo>
                  <a:pt x="1025" y="2703"/>
                </a:lnTo>
                <a:lnTo>
                  <a:pt x="1029" y="2780"/>
                </a:lnTo>
                <a:lnTo>
                  <a:pt x="1033" y="2859"/>
                </a:lnTo>
                <a:lnTo>
                  <a:pt x="1040" y="2939"/>
                </a:lnTo>
                <a:lnTo>
                  <a:pt x="1048" y="3020"/>
                </a:lnTo>
                <a:lnTo>
                  <a:pt x="1058" y="3104"/>
                </a:lnTo>
                <a:lnTo>
                  <a:pt x="1070" y="3188"/>
                </a:lnTo>
                <a:lnTo>
                  <a:pt x="1085" y="3274"/>
                </a:lnTo>
                <a:lnTo>
                  <a:pt x="1101" y="3361"/>
                </a:lnTo>
                <a:lnTo>
                  <a:pt x="1120" y="3450"/>
                </a:lnTo>
                <a:lnTo>
                  <a:pt x="1140" y="3540"/>
                </a:lnTo>
                <a:lnTo>
                  <a:pt x="1164" y="3632"/>
                </a:lnTo>
                <a:lnTo>
                  <a:pt x="1189" y="3725"/>
                </a:lnTo>
                <a:close/>
                <a:moveTo>
                  <a:pt x="4632" y="3167"/>
                </a:moveTo>
                <a:lnTo>
                  <a:pt x="2763" y="1298"/>
                </a:lnTo>
                <a:lnTo>
                  <a:pt x="4632" y="1298"/>
                </a:lnTo>
                <a:lnTo>
                  <a:pt x="4632" y="3167"/>
                </a:lnTo>
                <a:close/>
                <a:moveTo>
                  <a:pt x="1942" y="5769"/>
                </a:moveTo>
                <a:lnTo>
                  <a:pt x="1942" y="5769"/>
                </a:lnTo>
                <a:lnTo>
                  <a:pt x="1939" y="5699"/>
                </a:lnTo>
                <a:lnTo>
                  <a:pt x="1937" y="5628"/>
                </a:lnTo>
                <a:lnTo>
                  <a:pt x="1933" y="5555"/>
                </a:lnTo>
                <a:lnTo>
                  <a:pt x="1929" y="5482"/>
                </a:lnTo>
                <a:lnTo>
                  <a:pt x="1925" y="5446"/>
                </a:lnTo>
                <a:lnTo>
                  <a:pt x="1921" y="5410"/>
                </a:lnTo>
                <a:lnTo>
                  <a:pt x="1916" y="5375"/>
                </a:lnTo>
                <a:lnTo>
                  <a:pt x="1911" y="5340"/>
                </a:lnTo>
                <a:lnTo>
                  <a:pt x="1904" y="5306"/>
                </a:lnTo>
                <a:lnTo>
                  <a:pt x="1897" y="5272"/>
                </a:lnTo>
                <a:lnTo>
                  <a:pt x="1887" y="5240"/>
                </a:lnTo>
                <a:lnTo>
                  <a:pt x="1877" y="5208"/>
                </a:lnTo>
                <a:lnTo>
                  <a:pt x="1866" y="5178"/>
                </a:lnTo>
                <a:lnTo>
                  <a:pt x="1852" y="5148"/>
                </a:lnTo>
                <a:lnTo>
                  <a:pt x="1836" y="5120"/>
                </a:lnTo>
                <a:lnTo>
                  <a:pt x="1819" y="5093"/>
                </a:lnTo>
                <a:lnTo>
                  <a:pt x="1800" y="5067"/>
                </a:lnTo>
                <a:lnTo>
                  <a:pt x="1789" y="5056"/>
                </a:lnTo>
                <a:lnTo>
                  <a:pt x="1779" y="5043"/>
                </a:lnTo>
                <a:lnTo>
                  <a:pt x="1768" y="5033"/>
                </a:lnTo>
                <a:lnTo>
                  <a:pt x="1755" y="5022"/>
                </a:lnTo>
                <a:lnTo>
                  <a:pt x="1743" y="5012"/>
                </a:lnTo>
                <a:lnTo>
                  <a:pt x="1729" y="5002"/>
                </a:lnTo>
                <a:lnTo>
                  <a:pt x="1716" y="4993"/>
                </a:lnTo>
                <a:lnTo>
                  <a:pt x="1701" y="4984"/>
                </a:lnTo>
                <a:lnTo>
                  <a:pt x="1686" y="4976"/>
                </a:lnTo>
                <a:lnTo>
                  <a:pt x="1670" y="4968"/>
                </a:lnTo>
                <a:lnTo>
                  <a:pt x="1654" y="4960"/>
                </a:lnTo>
                <a:lnTo>
                  <a:pt x="1637" y="4954"/>
                </a:lnTo>
                <a:lnTo>
                  <a:pt x="1619" y="4947"/>
                </a:lnTo>
                <a:lnTo>
                  <a:pt x="1601" y="4942"/>
                </a:lnTo>
                <a:lnTo>
                  <a:pt x="1581" y="4937"/>
                </a:lnTo>
                <a:lnTo>
                  <a:pt x="1561" y="4933"/>
                </a:lnTo>
                <a:lnTo>
                  <a:pt x="1541" y="4929"/>
                </a:lnTo>
                <a:lnTo>
                  <a:pt x="1519" y="4926"/>
                </a:lnTo>
                <a:lnTo>
                  <a:pt x="1497" y="4924"/>
                </a:lnTo>
                <a:lnTo>
                  <a:pt x="1474" y="4922"/>
                </a:lnTo>
                <a:lnTo>
                  <a:pt x="1450" y="4922"/>
                </a:lnTo>
                <a:lnTo>
                  <a:pt x="1426" y="4920"/>
                </a:lnTo>
                <a:lnTo>
                  <a:pt x="1400" y="4922"/>
                </a:lnTo>
                <a:lnTo>
                  <a:pt x="1376" y="4922"/>
                </a:lnTo>
                <a:lnTo>
                  <a:pt x="1352" y="4924"/>
                </a:lnTo>
                <a:lnTo>
                  <a:pt x="1330" y="4926"/>
                </a:lnTo>
                <a:lnTo>
                  <a:pt x="1308" y="4929"/>
                </a:lnTo>
                <a:lnTo>
                  <a:pt x="1287" y="4933"/>
                </a:lnTo>
                <a:lnTo>
                  <a:pt x="1267" y="4937"/>
                </a:lnTo>
                <a:lnTo>
                  <a:pt x="1247" y="4942"/>
                </a:lnTo>
                <a:lnTo>
                  <a:pt x="1228" y="4947"/>
                </a:lnTo>
                <a:lnTo>
                  <a:pt x="1210" y="4954"/>
                </a:lnTo>
                <a:lnTo>
                  <a:pt x="1193" y="4960"/>
                </a:lnTo>
                <a:lnTo>
                  <a:pt x="1176" y="4968"/>
                </a:lnTo>
                <a:lnTo>
                  <a:pt x="1161" y="4976"/>
                </a:lnTo>
                <a:lnTo>
                  <a:pt x="1146" y="4984"/>
                </a:lnTo>
                <a:lnTo>
                  <a:pt x="1131" y="4993"/>
                </a:lnTo>
                <a:lnTo>
                  <a:pt x="1118" y="5002"/>
                </a:lnTo>
                <a:lnTo>
                  <a:pt x="1104" y="5012"/>
                </a:lnTo>
                <a:lnTo>
                  <a:pt x="1092" y="5022"/>
                </a:lnTo>
                <a:lnTo>
                  <a:pt x="1079" y="5033"/>
                </a:lnTo>
                <a:lnTo>
                  <a:pt x="1068" y="5043"/>
                </a:lnTo>
                <a:lnTo>
                  <a:pt x="1057" y="5056"/>
                </a:lnTo>
                <a:lnTo>
                  <a:pt x="1047" y="5067"/>
                </a:lnTo>
                <a:lnTo>
                  <a:pt x="1027" y="5093"/>
                </a:lnTo>
                <a:lnTo>
                  <a:pt x="1010" y="5120"/>
                </a:lnTo>
                <a:lnTo>
                  <a:pt x="995" y="5148"/>
                </a:lnTo>
                <a:lnTo>
                  <a:pt x="981" y="5178"/>
                </a:lnTo>
                <a:lnTo>
                  <a:pt x="970" y="5208"/>
                </a:lnTo>
                <a:lnTo>
                  <a:pt x="960" y="5240"/>
                </a:lnTo>
                <a:lnTo>
                  <a:pt x="951" y="5272"/>
                </a:lnTo>
                <a:lnTo>
                  <a:pt x="943" y="5306"/>
                </a:lnTo>
                <a:lnTo>
                  <a:pt x="937" y="5340"/>
                </a:lnTo>
                <a:lnTo>
                  <a:pt x="932" y="5375"/>
                </a:lnTo>
                <a:lnTo>
                  <a:pt x="927" y="5410"/>
                </a:lnTo>
                <a:lnTo>
                  <a:pt x="924" y="5446"/>
                </a:lnTo>
                <a:lnTo>
                  <a:pt x="921" y="5482"/>
                </a:lnTo>
                <a:lnTo>
                  <a:pt x="917" y="5555"/>
                </a:lnTo>
                <a:lnTo>
                  <a:pt x="913" y="5628"/>
                </a:lnTo>
                <a:lnTo>
                  <a:pt x="911" y="5699"/>
                </a:lnTo>
                <a:lnTo>
                  <a:pt x="908" y="5769"/>
                </a:lnTo>
                <a:lnTo>
                  <a:pt x="893" y="5801"/>
                </a:lnTo>
                <a:lnTo>
                  <a:pt x="877" y="5831"/>
                </a:lnTo>
                <a:lnTo>
                  <a:pt x="863" y="5859"/>
                </a:lnTo>
                <a:lnTo>
                  <a:pt x="846" y="5885"/>
                </a:lnTo>
                <a:lnTo>
                  <a:pt x="830" y="5910"/>
                </a:lnTo>
                <a:lnTo>
                  <a:pt x="813" y="5933"/>
                </a:lnTo>
                <a:lnTo>
                  <a:pt x="796" y="5954"/>
                </a:lnTo>
                <a:lnTo>
                  <a:pt x="779" y="5974"/>
                </a:lnTo>
                <a:lnTo>
                  <a:pt x="762" y="5992"/>
                </a:lnTo>
                <a:lnTo>
                  <a:pt x="744" y="6009"/>
                </a:lnTo>
                <a:lnTo>
                  <a:pt x="727" y="6024"/>
                </a:lnTo>
                <a:lnTo>
                  <a:pt x="709" y="6039"/>
                </a:lnTo>
                <a:lnTo>
                  <a:pt x="691" y="6051"/>
                </a:lnTo>
                <a:lnTo>
                  <a:pt x="673" y="6064"/>
                </a:lnTo>
                <a:lnTo>
                  <a:pt x="654" y="6074"/>
                </a:lnTo>
                <a:lnTo>
                  <a:pt x="636" y="6084"/>
                </a:lnTo>
                <a:lnTo>
                  <a:pt x="618" y="6092"/>
                </a:lnTo>
                <a:lnTo>
                  <a:pt x="599" y="6100"/>
                </a:lnTo>
                <a:lnTo>
                  <a:pt x="581" y="6106"/>
                </a:lnTo>
                <a:lnTo>
                  <a:pt x="561" y="6112"/>
                </a:lnTo>
                <a:lnTo>
                  <a:pt x="543" y="6118"/>
                </a:lnTo>
                <a:lnTo>
                  <a:pt x="524" y="6122"/>
                </a:lnTo>
                <a:lnTo>
                  <a:pt x="487" y="6129"/>
                </a:lnTo>
                <a:lnTo>
                  <a:pt x="451" y="6133"/>
                </a:lnTo>
                <a:lnTo>
                  <a:pt x="415" y="6138"/>
                </a:lnTo>
                <a:lnTo>
                  <a:pt x="344" y="6143"/>
                </a:lnTo>
                <a:lnTo>
                  <a:pt x="309" y="6145"/>
                </a:lnTo>
                <a:lnTo>
                  <a:pt x="276" y="6148"/>
                </a:lnTo>
                <a:lnTo>
                  <a:pt x="243" y="6152"/>
                </a:lnTo>
                <a:lnTo>
                  <a:pt x="213" y="6157"/>
                </a:lnTo>
                <a:lnTo>
                  <a:pt x="184" y="6165"/>
                </a:lnTo>
                <a:lnTo>
                  <a:pt x="170" y="6170"/>
                </a:lnTo>
                <a:lnTo>
                  <a:pt x="156" y="6174"/>
                </a:lnTo>
                <a:lnTo>
                  <a:pt x="143" y="6181"/>
                </a:lnTo>
                <a:lnTo>
                  <a:pt x="130" y="6188"/>
                </a:lnTo>
                <a:lnTo>
                  <a:pt x="118" y="6196"/>
                </a:lnTo>
                <a:lnTo>
                  <a:pt x="106" y="6205"/>
                </a:lnTo>
                <a:lnTo>
                  <a:pt x="94" y="6215"/>
                </a:lnTo>
                <a:lnTo>
                  <a:pt x="84" y="6225"/>
                </a:lnTo>
                <a:lnTo>
                  <a:pt x="74" y="6237"/>
                </a:lnTo>
                <a:lnTo>
                  <a:pt x="64" y="6251"/>
                </a:lnTo>
                <a:lnTo>
                  <a:pt x="55" y="6264"/>
                </a:lnTo>
                <a:lnTo>
                  <a:pt x="47" y="6280"/>
                </a:lnTo>
                <a:lnTo>
                  <a:pt x="39" y="6298"/>
                </a:lnTo>
                <a:lnTo>
                  <a:pt x="31" y="6316"/>
                </a:lnTo>
                <a:lnTo>
                  <a:pt x="26" y="6337"/>
                </a:lnTo>
                <a:lnTo>
                  <a:pt x="20" y="6359"/>
                </a:lnTo>
                <a:lnTo>
                  <a:pt x="14" y="6382"/>
                </a:lnTo>
                <a:lnTo>
                  <a:pt x="10" y="6408"/>
                </a:lnTo>
                <a:lnTo>
                  <a:pt x="6" y="6434"/>
                </a:lnTo>
                <a:lnTo>
                  <a:pt x="3" y="6463"/>
                </a:lnTo>
                <a:lnTo>
                  <a:pt x="1" y="6493"/>
                </a:lnTo>
                <a:lnTo>
                  <a:pt x="0" y="6526"/>
                </a:lnTo>
                <a:lnTo>
                  <a:pt x="2852" y="6526"/>
                </a:lnTo>
                <a:lnTo>
                  <a:pt x="2849" y="6493"/>
                </a:lnTo>
                <a:lnTo>
                  <a:pt x="2847" y="6463"/>
                </a:lnTo>
                <a:lnTo>
                  <a:pt x="2845" y="6434"/>
                </a:lnTo>
                <a:lnTo>
                  <a:pt x="2842" y="6408"/>
                </a:lnTo>
                <a:lnTo>
                  <a:pt x="2837" y="6382"/>
                </a:lnTo>
                <a:lnTo>
                  <a:pt x="2831" y="6359"/>
                </a:lnTo>
                <a:lnTo>
                  <a:pt x="2826" y="6337"/>
                </a:lnTo>
                <a:lnTo>
                  <a:pt x="2819" y="6316"/>
                </a:lnTo>
                <a:lnTo>
                  <a:pt x="2812" y="6298"/>
                </a:lnTo>
                <a:lnTo>
                  <a:pt x="2804" y="6280"/>
                </a:lnTo>
                <a:lnTo>
                  <a:pt x="2796" y="6264"/>
                </a:lnTo>
                <a:lnTo>
                  <a:pt x="2787" y="6251"/>
                </a:lnTo>
                <a:lnTo>
                  <a:pt x="2777" y="6237"/>
                </a:lnTo>
                <a:lnTo>
                  <a:pt x="2767" y="6225"/>
                </a:lnTo>
                <a:lnTo>
                  <a:pt x="2756" y="6215"/>
                </a:lnTo>
                <a:lnTo>
                  <a:pt x="2745" y="6205"/>
                </a:lnTo>
                <a:lnTo>
                  <a:pt x="2733" y="6196"/>
                </a:lnTo>
                <a:lnTo>
                  <a:pt x="2721" y="6188"/>
                </a:lnTo>
                <a:lnTo>
                  <a:pt x="2708" y="6181"/>
                </a:lnTo>
                <a:lnTo>
                  <a:pt x="2695" y="6174"/>
                </a:lnTo>
                <a:lnTo>
                  <a:pt x="2681" y="6170"/>
                </a:lnTo>
                <a:lnTo>
                  <a:pt x="2668" y="6165"/>
                </a:lnTo>
                <a:lnTo>
                  <a:pt x="2638" y="6157"/>
                </a:lnTo>
                <a:lnTo>
                  <a:pt x="2607" y="6152"/>
                </a:lnTo>
                <a:lnTo>
                  <a:pt x="2575" y="6148"/>
                </a:lnTo>
                <a:lnTo>
                  <a:pt x="2541" y="6145"/>
                </a:lnTo>
                <a:lnTo>
                  <a:pt x="2508" y="6143"/>
                </a:lnTo>
                <a:lnTo>
                  <a:pt x="2437" y="6138"/>
                </a:lnTo>
                <a:lnTo>
                  <a:pt x="2400" y="6133"/>
                </a:lnTo>
                <a:lnTo>
                  <a:pt x="2363" y="6129"/>
                </a:lnTo>
                <a:lnTo>
                  <a:pt x="2326" y="6122"/>
                </a:lnTo>
                <a:lnTo>
                  <a:pt x="2308" y="6118"/>
                </a:lnTo>
                <a:lnTo>
                  <a:pt x="2289" y="6112"/>
                </a:lnTo>
                <a:lnTo>
                  <a:pt x="2271" y="6106"/>
                </a:lnTo>
                <a:lnTo>
                  <a:pt x="2252" y="6100"/>
                </a:lnTo>
                <a:lnTo>
                  <a:pt x="2233" y="6092"/>
                </a:lnTo>
                <a:lnTo>
                  <a:pt x="2214" y="6084"/>
                </a:lnTo>
                <a:lnTo>
                  <a:pt x="2196" y="6074"/>
                </a:lnTo>
                <a:lnTo>
                  <a:pt x="2178" y="6064"/>
                </a:lnTo>
                <a:lnTo>
                  <a:pt x="2160" y="6051"/>
                </a:lnTo>
                <a:lnTo>
                  <a:pt x="2142" y="6039"/>
                </a:lnTo>
                <a:lnTo>
                  <a:pt x="2124" y="6024"/>
                </a:lnTo>
                <a:lnTo>
                  <a:pt x="2106" y="6009"/>
                </a:lnTo>
                <a:lnTo>
                  <a:pt x="2089" y="5992"/>
                </a:lnTo>
                <a:lnTo>
                  <a:pt x="2071" y="5974"/>
                </a:lnTo>
                <a:lnTo>
                  <a:pt x="2054" y="5954"/>
                </a:lnTo>
                <a:lnTo>
                  <a:pt x="2037" y="5933"/>
                </a:lnTo>
                <a:lnTo>
                  <a:pt x="2021" y="5910"/>
                </a:lnTo>
                <a:lnTo>
                  <a:pt x="2004" y="5885"/>
                </a:lnTo>
                <a:lnTo>
                  <a:pt x="1989" y="5859"/>
                </a:lnTo>
                <a:lnTo>
                  <a:pt x="1973" y="5831"/>
                </a:lnTo>
                <a:lnTo>
                  <a:pt x="1958" y="5801"/>
                </a:lnTo>
                <a:lnTo>
                  <a:pt x="1942" y="5769"/>
                </a:lnTo>
                <a:close/>
                <a:moveTo>
                  <a:pt x="1025" y="5744"/>
                </a:moveTo>
                <a:lnTo>
                  <a:pt x="1025" y="5744"/>
                </a:lnTo>
                <a:lnTo>
                  <a:pt x="1021" y="5707"/>
                </a:lnTo>
                <a:lnTo>
                  <a:pt x="1018" y="5671"/>
                </a:lnTo>
                <a:lnTo>
                  <a:pt x="1016" y="5636"/>
                </a:lnTo>
                <a:lnTo>
                  <a:pt x="1015" y="5602"/>
                </a:lnTo>
                <a:lnTo>
                  <a:pt x="1015" y="5570"/>
                </a:lnTo>
                <a:lnTo>
                  <a:pt x="1015" y="5539"/>
                </a:lnTo>
                <a:lnTo>
                  <a:pt x="1016" y="5508"/>
                </a:lnTo>
                <a:lnTo>
                  <a:pt x="1018" y="5480"/>
                </a:lnTo>
                <a:lnTo>
                  <a:pt x="1022" y="5452"/>
                </a:lnTo>
                <a:lnTo>
                  <a:pt x="1025" y="5425"/>
                </a:lnTo>
                <a:lnTo>
                  <a:pt x="1030" y="5400"/>
                </a:lnTo>
                <a:lnTo>
                  <a:pt x="1034" y="5375"/>
                </a:lnTo>
                <a:lnTo>
                  <a:pt x="1040" y="5351"/>
                </a:lnTo>
                <a:lnTo>
                  <a:pt x="1045" y="5329"/>
                </a:lnTo>
                <a:lnTo>
                  <a:pt x="1052" y="5307"/>
                </a:lnTo>
                <a:lnTo>
                  <a:pt x="1059" y="5286"/>
                </a:lnTo>
                <a:lnTo>
                  <a:pt x="1067" y="5267"/>
                </a:lnTo>
                <a:lnTo>
                  <a:pt x="1075" y="5248"/>
                </a:lnTo>
                <a:lnTo>
                  <a:pt x="1084" y="5230"/>
                </a:lnTo>
                <a:lnTo>
                  <a:pt x="1092" y="5213"/>
                </a:lnTo>
                <a:lnTo>
                  <a:pt x="1102" y="5196"/>
                </a:lnTo>
                <a:lnTo>
                  <a:pt x="1111" y="5181"/>
                </a:lnTo>
                <a:lnTo>
                  <a:pt x="1121" y="5166"/>
                </a:lnTo>
                <a:lnTo>
                  <a:pt x="1131" y="5153"/>
                </a:lnTo>
                <a:lnTo>
                  <a:pt x="1142" y="5139"/>
                </a:lnTo>
                <a:lnTo>
                  <a:pt x="1154" y="5127"/>
                </a:lnTo>
                <a:lnTo>
                  <a:pt x="1175" y="5104"/>
                </a:lnTo>
                <a:lnTo>
                  <a:pt x="1199" y="5084"/>
                </a:lnTo>
                <a:lnTo>
                  <a:pt x="1223" y="5067"/>
                </a:lnTo>
                <a:lnTo>
                  <a:pt x="1246" y="5052"/>
                </a:lnTo>
                <a:lnTo>
                  <a:pt x="1270" y="5039"/>
                </a:lnTo>
                <a:lnTo>
                  <a:pt x="1295" y="5029"/>
                </a:lnTo>
                <a:lnTo>
                  <a:pt x="1317" y="5020"/>
                </a:lnTo>
                <a:lnTo>
                  <a:pt x="1341" y="5013"/>
                </a:lnTo>
                <a:lnTo>
                  <a:pt x="1362" y="5007"/>
                </a:lnTo>
                <a:lnTo>
                  <a:pt x="1384" y="5003"/>
                </a:lnTo>
                <a:lnTo>
                  <a:pt x="1403" y="4999"/>
                </a:lnTo>
                <a:lnTo>
                  <a:pt x="1421" y="4997"/>
                </a:lnTo>
                <a:lnTo>
                  <a:pt x="1438" y="4996"/>
                </a:lnTo>
                <a:lnTo>
                  <a:pt x="1464" y="4995"/>
                </a:lnTo>
                <a:lnTo>
                  <a:pt x="1482" y="4996"/>
                </a:lnTo>
                <a:lnTo>
                  <a:pt x="1488" y="4996"/>
                </a:lnTo>
                <a:lnTo>
                  <a:pt x="1476" y="5005"/>
                </a:lnTo>
                <a:lnTo>
                  <a:pt x="1462" y="5016"/>
                </a:lnTo>
                <a:lnTo>
                  <a:pt x="1443" y="5033"/>
                </a:lnTo>
                <a:lnTo>
                  <a:pt x="1420" y="5055"/>
                </a:lnTo>
                <a:lnTo>
                  <a:pt x="1393" y="5083"/>
                </a:lnTo>
                <a:lnTo>
                  <a:pt x="1362" y="5117"/>
                </a:lnTo>
                <a:lnTo>
                  <a:pt x="1330" y="5157"/>
                </a:lnTo>
                <a:lnTo>
                  <a:pt x="1294" y="5204"/>
                </a:lnTo>
                <a:lnTo>
                  <a:pt x="1276" y="5230"/>
                </a:lnTo>
                <a:lnTo>
                  <a:pt x="1256" y="5258"/>
                </a:lnTo>
                <a:lnTo>
                  <a:pt x="1237" y="5287"/>
                </a:lnTo>
                <a:lnTo>
                  <a:pt x="1218" y="5319"/>
                </a:lnTo>
                <a:lnTo>
                  <a:pt x="1199" y="5351"/>
                </a:lnTo>
                <a:lnTo>
                  <a:pt x="1179" y="5388"/>
                </a:lnTo>
                <a:lnTo>
                  <a:pt x="1159" y="5425"/>
                </a:lnTo>
                <a:lnTo>
                  <a:pt x="1139" y="5464"/>
                </a:lnTo>
                <a:lnTo>
                  <a:pt x="1120" y="5505"/>
                </a:lnTo>
                <a:lnTo>
                  <a:pt x="1101" y="5549"/>
                </a:lnTo>
                <a:lnTo>
                  <a:pt x="1080" y="5594"/>
                </a:lnTo>
                <a:lnTo>
                  <a:pt x="1062" y="5641"/>
                </a:lnTo>
                <a:lnTo>
                  <a:pt x="1043" y="5691"/>
                </a:lnTo>
                <a:lnTo>
                  <a:pt x="1025" y="574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17226" tIns="58613" rIns="117226" bIns="58613"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0" y="21727"/>
            <a:ext cx="12192000" cy="792000"/>
            <a:chOff x="0" y="0"/>
            <a:chExt cx="12192000" cy="792000"/>
          </a:xfrm>
        </p:grpSpPr>
        <p:sp>
          <p:nvSpPr>
            <p:cNvPr id="57" name="小红书-苗猫大丸子(倒卖必究)-57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58" name="小红书-苗猫大丸子(倒卖必究)-58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小红书-苗猫大丸子(倒卖必究)-61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小红书-苗猫大丸子(倒卖必究)-63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小红书-苗猫大丸子(倒卖必究)-65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" name="Picture 132" descr="南开大学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020" y="40125"/>
              <a:ext cx="2011854" cy="711433"/>
            </a:xfrm>
            <a:prstGeom prst="rect">
              <a:avLst/>
            </a:prstGeom>
          </p:spPr>
        </p:pic>
        <p:cxnSp>
          <p:nvCxnSpPr>
            <p:cNvPr id="68" name="小红书-苗猫大丸子(倒卖必究)-68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小红书-苗猫大丸子(倒卖必究)-64"/>
          <p:cNvSpPr txBox="1"/>
          <p:nvPr/>
        </p:nvSpPr>
        <p:spPr>
          <a:xfrm>
            <a:off x="3005483" y="233061"/>
            <a:ext cx="13925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rgbClr val="691452"/>
                </a:solidFill>
              </a:rPr>
              <a:t>微服务开发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357" y="889456"/>
            <a:ext cx="5275580" cy="3316605"/>
          </a:xfrm>
          <a:prstGeom prst="rect">
            <a:avLst/>
          </a:prstGeom>
        </p:spPr>
      </p:pic>
      <p:sp>
        <p:nvSpPr>
          <p:cNvPr id="91" name="小红书-苗猫大丸子(倒卖必究)-91"/>
          <p:cNvSpPr txBox="1"/>
          <p:nvPr>
            <p:custDataLst>
              <p:tags r:id="rId1"/>
            </p:custDataLst>
          </p:nvPr>
        </p:nvSpPr>
        <p:spPr>
          <a:xfrm>
            <a:off x="3923048" y="2759378"/>
            <a:ext cx="2214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AIOpsService</a:t>
            </a:r>
            <a:endParaRPr lang="en-US" altLang="zh-CN" sz="2000" b="1" dirty="0">
              <a:solidFill>
                <a:srgbClr val="6E1556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加分项：智能运维</a:t>
            </a:r>
          </a:p>
        </p:txBody>
      </p:sp>
      <p:sp>
        <p:nvSpPr>
          <p:cNvPr id="5" name="矩形 4"/>
          <p:cNvSpPr/>
          <p:nvPr/>
        </p:nvSpPr>
        <p:spPr>
          <a:xfrm>
            <a:off x="6856412" y="6546967"/>
            <a:ext cx="2409031" cy="120648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856412" y="4966366"/>
            <a:ext cx="1653106" cy="12064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小红书-苗猫大丸子(倒卖必究)-35" descr="E:\PPT\PPT_图标\289.png"/>
          <p:cNvPicPr>
            <a:picLocks noChangeAspect="1" noChangeArrowheads="1"/>
          </p:cNvPicPr>
          <p:nvPr/>
        </p:nvPicPr>
        <p:blipFill>
          <a:blip r:embed="rId7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815" y="1713261"/>
            <a:ext cx="358249" cy="43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4"/>
    </mc:Choice>
    <mc:Fallback xmlns="">
      <p:transition spd="slow" advTm="1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 bldLvl="0" animBg="1"/>
      <p:bldP spid="35" grpId="0" bldLvl="0" animBg="1"/>
      <p:bldP spid="36" grpId="0"/>
      <p:bldP spid="37" grpId="0"/>
      <p:bldP spid="41" grpId="0" bldLvl="0" animBg="1"/>
      <p:bldP spid="43" grpId="0"/>
      <p:bldP spid="45" grpId="0"/>
      <p:bldP spid="46" grpId="0" bldLvl="0" animBg="1"/>
      <p:bldP spid="54" grpId="0" bldLvl="0" animBg="1"/>
      <p:bldP spid="9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小红书-苗猫大丸子(倒卖必究)-12"/>
          <p:cNvCxnSpPr/>
          <p:nvPr/>
        </p:nvCxnSpPr>
        <p:spPr>
          <a:xfrm flipH="1" flipV="1">
            <a:off x="6121402" y="2178284"/>
            <a:ext cx="0" cy="3494973"/>
          </a:xfrm>
          <a:prstGeom prst="line">
            <a:avLst/>
          </a:prstGeom>
          <a:noFill/>
          <a:ln w="9525" cap="flat" cmpd="sng" algn="ctr">
            <a:solidFill>
              <a:srgbClr val="571144"/>
            </a:solidFill>
            <a:prstDash val="solid"/>
            <a:miter lim="800000"/>
          </a:ln>
          <a:effectLst/>
        </p:spPr>
      </p:cxnSp>
      <p:grpSp>
        <p:nvGrpSpPr>
          <p:cNvPr id="13" name="Group 8"/>
          <p:cNvGrpSpPr/>
          <p:nvPr/>
        </p:nvGrpSpPr>
        <p:grpSpPr>
          <a:xfrm>
            <a:off x="6667642" y="2889041"/>
            <a:ext cx="906703" cy="908468"/>
            <a:chOff x="8866294" y="4017821"/>
            <a:chExt cx="1360409" cy="1363057"/>
          </a:xfrm>
        </p:grpSpPr>
        <p:sp>
          <p:nvSpPr>
            <p:cNvPr id="14" name="小红书-苗猫大丸子(倒卖必究)-14"/>
            <p:cNvSpPr>
              <a:spLocks noChangeArrowheads="1"/>
            </p:cNvSpPr>
            <p:nvPr/>
          </p:nvSpPr>
          <p:spPr bwMode="auto">
            <a:xfrm>
              <a:off x="8866294" y="4017821"/>
              <a:ext cx="1360409" cy="1363057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15" name="小红书-苗猫大丸子(倒卖必究)-15"/>
            <p:cNvSpPr>
              <a:spLocks noEditPoints="1"/>
            </p:cNvSpPr>
            <p:nvPr/>
          </p:nvSpPr>
          <p:spPr bwMode="auto">
            <a:xfrm>
              <a:off x="9146482" y="4325668"/>
              <a:ext cx="793450" cy="790055"/>
            </a:xfrm>
            <a:custGeom>
              <a:avLst/>
              <a:gdLst>
                <a:gd name="T0" fmla="*/ 151 w 393"/>
                <a:gd name="T1" fmla="*/ 295 h 391"/>
                <a:gd name="T2" fmla="*/ 159 w 393"/>
                <a:gd name="T3" fmla="*/ 266 h 391"/>
                <a:gd name="T4" fmla="*/ 122 w 393"/>
                <a:gd name="T5" fmla="*/ 251 h 391"/>
                <a:gd name="T6" fmla="*/ 108 w 393"/>
                <a:gd name="T7" fmla="*/ 225 h 391"/>
                <a:gd name="T8" fmla="*/ 71 w 393"/>
                <a:gd name="T9" fmla="*/ 241 h 391"/>
                <a:gd name="T10" fmla="*/ 42 w 393"/>
                <a:gd name="T11" fmla="*/ 232 h 391"/>
                <a:gd name="T12" fmla="*/ 27 w 393"/>
                <a:gd name="T13" fmla="*/ 269 h 391"/>
                <a:gd name="T14" fmla="*/ 1 w 393"/>
                <a:gd name="T15" fmla="*/ 283 h 391"/>
                <a:gd name="T16" fmla="*/ 16 w 393"/>
                <a:gd name="T17" fmla="*/ 300 h 391"/>
                <a:gd name="T18" fmla="*/ 3 w 393"/>
                <a:gd name="T19" fmla="*/ 338 h 391"/>
                <a:gd name="T20" fmla="*/ 31 w 393"/>
                <a:gd name="T21" fmla="*/ 350 h 391"/>
                <a:gd name="T22" fmla="*/ 42 w 393"/>
                <a:gd name="T23" fmla="*/ 381 h 391"/>
                <a:gd name="T24" fmla="*/ 68 w 393"/>
                <a:gd name="T25" fmla="*/ 390 h 391"/>
                <a:gd name="T26" fmla="*/ 96 w 393"/>
                <a:gd name="T27" fmla="*/ 375 h 391"/>
                <a:gd name="T28" fmla="*/ 125 w 393"/>
                <a:gd name="T29" fmla="*/ 383 h 391"/>
                <a:gd name="T30" fmla="*/ 140 w 393"/>
                <a:gd name="T31" fmla="*/ 346 h 391"/>
                <a:gd name="T32" fmla="*/ 162 w 393"/>
                <a:gd name="T33" fmla="*/ 343 h 391"/>
                <a:gd name="T34" fmla="*/ 101 w 393"/>
                <a:gd name="T35" fmla="*/ 346 h 391"/>
                <a:gd name="T36" fmla="*/ 66 w 393"/>
                <a:gd name="T37" fmla="*/ 269 h 391"/>
                <a:gd name="T38" fmla="*/ 101 w 393"/>
                <a:gd name="T39" fmla="*/ 346 h 391"/>
                <a:gd name="T40" fmla="*/ 261 w 393"/>
                <a:gd name="T41" fmla="*/ 336 h 391"/>
                <a:gd name="T42" fmla="*/ 266 w 393"/>
                <a:gd name="T43" fmla="*/ 320 h 391"/>
                <a:gd name="T44" fmla="*/ 245 w 393"/>
                <a:gd name="T45" fmla="*/ 312 h 391"/>
                <a:gd name="T46" fmla="*/ 237 w 393"/>
                <a:gd name="T47" fmla="*/ 297 h 391"/>
                <a:gd name="T48" fmla="*/ 217 w 393"/>
                <a:gd name="T49" fmla="*/ 306 h 391"/>
                <a:gd name="T50" fmla="*/ 200 w 393"/>
                <a:gd name="T51" fmla="*/ 301 h 391"/>
                <a:gd name="T52" fmla="*/ 192 w 393"/>
                <a:gd name="T53" fmla="*/ 321 h 391"/>
                <a:gd name="T54" fmla="*/ 177 w 393"/>
                <a:gd name="T55" fmla="*/ 329 h 391"/>
                <a:gd name="T56" fmla="*/ 186 w 393"/>
                <a:gd name="T57" fmla="*/ 339 h 391"/>
                <a:gd name="T58" fmla="*/ 179 w 393"/>
                <a:gd name="T59" fmla="*/ 360 h 391"/>
                <a:gd name="T60" fmla="*/ 194 w 393"/>
                <a:gd name="T61" fmla="*/ 367 h 391"/>
                <a:gd name="T62" fmla="*/ 200 w 393"/>
                <a:gd name="T63" fmla="*/ 384 h 391"/>
                <a:gd name="T64" fmla="*/ 215 w 393"/>
                <a:gd name="T65" fmla="*/ 389 h 391"/>
                <a:gd name="T66" fmla="*/ 230 w 393"/>
                <a:gd name="T67" fmla="*/ 380 h 391"/>
                <a:gd name="T68" fmla="*/ 247 w 393"/>
                <a:gd name="T69" fmla="*/ 385 h 391"/>
                <a:gd name="T70" fmla="*/ 255 w 393"/>
                <a:gd name="T71" fmla="*/ 364 h 391"/>
                <a:gd name="T72" fmla="*/ 267 w 393"/>
                <a:gd name="T73" fmla="*/ 363 h 391"/>
                <a:gd name="T74" fmla="*/ 233 w 393"/>
                <a:gd name="T75" fmla="*/ 364 h 391"/>
                <a:gd name="T76" fmla="*/ 214 w 393"/>
                <a:gd name="T77" fmla="*/ 321 h 391"/>
                <a:gd name="T78" fmla="*/ 233 w 393"/>
                <a:gd name="T79" fmla="*/ 364 h 391"/>
                <a:gd name="T80" fmla="*/ 362 w 393"/>
                <a:gd name="T81" fmla="*/ 122 h 391"/>
                <a:gd name="T82" fmla="*/ 377 w 393"/>
                <a:gd name="T83" fmla="*/ 73 h 391"/>
                <a:gd name="T84" fmla="*/ 314 w 393"/>
                <a:gd name="T85" fmla="*/ 48 h 391"/>
                <a:gd name="T86" fmla="*/ 290 w 393"/>
                <a:gd name="T87" fmla="*/ 3 h 391"/>
                <a:gd name="T88" fmla="*/ 229 w 393"/>
                <a:gd name="T89" fmla="*/ 30 h 391"/>
                <a:gd name="T90" fmla="*/ 180 w 393"/>
                <a:gd name="T91" fmla="*/ 15 h 391"/>
                <a:gd name="T92" fmla="*/ 155 w 393"/>
                <a:gd name="T93" fmla="*/ 78 h 391"/>
                <a:gd name="T94" fmla="*/ 110 w 393"/>
                <a:gd name="T95" fmla="*/ 102 h 391"/>
                <a:gd name="T96" fmla="*/ 136 w 393"/>
                <a:gd name="T97" fmla="*/ 130 h 391"/>
                <a:gd name="T98" fmla="*/ 114 w 393"/>
                <a:gd name="T99" fmla="*/ 194 h 391"/>
                <a:gd name="T100" fmla="*/ 161 w 393"/>
                <a:gd name="T101" fmla="*/ 214 h 391"/>
                <a:gd name="T102" fmla="*/ 180 w 393"/>
                <a:gd name="T103" fmla="*/ 266 h 391"/>
                <a:gd name="T104" fmla="*/ 223 w 393"/>
                <a:gd name="T105" fmla="*/ 281 h 391"/>
                <a:gd name="T106" fmla="*/ 271 w 393"/>
                <a:gd name="T107" fmla="*/ 255 h 391"/>
                <a:gd name="T108" fmla="*/ 319 w 393"/>
                <a:gd name="T109" fmla="*/ 270 h 391"/>
                <a:gd name="T110" fmla="*/ 344 w 393"/>
                <a:gd name="T111" fmla="*/ 207 h 391"/>
                <a:gd name="T112" fmla="*/ 382 w 393"/>
                <a:gd name="T113" fmla="*/ 202 h 391"/>
                <a:gd name="T114" fmla="*/ 279 w 393"/>
                <a:gd name="T115" fmla="*/ 207 h 391"/>
                <a:gd name="T116" fmla="*/ 220 w 393"/>
                <a:gd name="T117" fmla="*/ 78 h 391"/>
                <a:gd name="T118" fmla="*/ 279 w 393"/>
                <a:gd name="T119" fmla="*/ 207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93" h="391">
                  <a:moveTo>
                    <a:pt x="160" y="318"/>
                  </a:moveTo>
                  <a:cubicBezTo>
                    <a:pt x="151" y="315"/>
                    <a:pt x="151" y="315"/>
                    <a:pt x="151" y="315"/>
                  </a:cubicBezTo>
                  <a:cubicBezTo>
                    <a:pt x="152" y="308"/>
                    <a:pt x="152" y="302"/>
                    <a:pt x="151" y="295"/>
                  </a:cubicBezTo>
                  <a:cubicBezTo>
                    <a:pt x="159" y="291"/>
                    <a:pt x="159" y="291"/>
                    <a:pt x="159" y="291"/>
                  </a:cubicBezTo>
                  <a:cubicBezTo>
                    <a:pt x="165" y="289"/>
                    <a:pt x="167" y="282"/>
                    <a:pt x="164" y="277"/>
                  </a:cubicBezTo>
                  <a:cubicBezTo>
                    <a:pt x="159" y="266"/>
                    <a:pt x="159" y="266"/>
                    <a:pt x="159" y="266"/>
                  </a:cubicBezTo>
                  <a:cubicBezTo>
                    <a:pt x="157" y="261"/>
                    <a:pt x="151" y="258"/>
                    <a:pt x="145" y="261"/>
                  </a:cubicBezTo>
                  <a:cubicBezTo>
                    <a:pt x="137" y="265"/>
                    <a:pt x="137" y="265"/>
                    <a:pt x="137" y="265"/>
                  </a:cubicBezTo>
                  <a:cubicBezTo>
                    <a:pt x="132" y="260"/>
                    <a:pt x="128" y="255"/>
                    <a:pt x="122" y="251"/>
                  </a:cubicBezTo>
                  <a:cubicBezTo>
                    <a:pt x="125" y="242"/>
                    <a:pt x="125" y="242"/>
                    <a:pt x="125" y="242"/>
                  </a:cubicBezTo>
                  <a:cubicBezTo>
                    <a:pt x="127" y="237"/>
                    <a:pt x="125" y="231"/>
                    <a:pt x="119" y="229"/>
                  </a:cubicBezTo>
                  <a:cubicBezTo>
                    <a:pt x="108" y="225"/>
                    <a:pt x="108" y="225"/>
                    <a:pt x="108" y="225"/>
                  </a:cubicBezTo>
                  <a:cubicBezTo>
                    <a:pt x="103" y="223"/>
                    <a:pt x="96" y="226"/>
                    <a:pt x="94" y="231"/>
                  </a:cubicBezTo>
                  <a:cubicBezTo>
                    <a:pt x="91" y="240"/>
                    <a:pt x="91" y="240"/>
                    <a:pt x="91" y="240"/>
                  </a:cubicBezTo>
                  <a:cubicBezTo>
                    <a:pt x="84" y="239"/>
                    <a:pt x="78" y="239"/>
                    <a:pt x="71" y="241"/>
                  </a:cubicBezTo>
                  <a:cubicBezTo>
                    <a:pt x="67" y="232"/>
                    <a:pt x="67" y="232"/>
                    <a:pt x="67" y="232"/>
                  </a:cubicBezTo>
                  <a:cubicBezTo>
                    <a:pt x="65" y="227"/>
                    <a:pt x="58" y="224"/>
                    <a:pt x="53" y="227"/>
                  </a:cubicBezTo>
                  <a:cubicBezTo>
                    <a:pt x="42" y="232"/>
                    <a:pt x="42" y="232"/>
                    <a:pt x="42" y="232"/>
                  </a:cubicBezTo>
                  <a:cubicBezTo>
                    <a:pt x="37" y="234"/>
                    <a:pt x="34" y="241"/>
                    <a:pt x="37" y="246"/>
                  </a:cubicBezTo>
                  <a:cubicBezTo>
                    <a:pt x="41" y="254"/>
                    <a:pt x="41" y="254"/>
                    <a:pt x="41" y="254"/>
                  </a:cubicBezTo>
                  <a:cubicBezTo>
                    <a:pt x="36" y="259"/>
                    <a:pt x="31" y="264"/>
                    <a:pt x="27" y="269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13" y="264"/>
                    <a:pt x="7" y="267"/>
                    <a:pt x="5" y="272"/>
                  </a:cubicBezTo>
                  <a:cubicBezTo>
                    <a:pt x="1" y="283"/>
                    <a:pt x="1" y="283"/>
                    <a:pt x="1" y="283"/>
                  </a:cubicBezTo>
                  <a:cubicBezTo>
                    <a:pt x="0" y="286"/>
                    <a:pt x="0" y="289"/>
                    <a:pt x="1" y="291"/>
                  </a:cubicBezTo>
                  <a:cubicBezTo>
                    <a:pt x="2" y="294"/>
                    <a:pt x="4" y="296"/>
                    <a:pt x="7" y="297"/>
                  </a:cubicBezTo>
                  <a:cubicBezTo>
                    <a:pt x="16" y="300"/>
                    <a:pt x="16" y="300"/>
                    <a:pt x="16" y="300"/>
                  </a:cubicBezTo>
                  <a:cubicBezTo>
                    <a:pt x="15" y="307"/>
                    <a:pt x="15" y="313"/>
                    <a:pt x="17" y="320"/>
                  </a:cubicBezTo>
                  <a:cubicBezTo>
                    <a:pt x="8" y="324"/>
                    <a:pt x="8" y="324"/>
                    <a:pt x="8" y="324"/>
                  </a:cubicBezTo>
                  <a:cubicBezTo>
                    <a:pt x="3" y="326"/>
                    <a:pt x="0" y="333"/>
                    <a:pt x="3" y="338"/>
                  </a:cubicBezTo>
                  <a:cubicBezTo>
                    <a:pt x="8" y="349"/>
                    <a:pt x="8" y="349"/>
                    <a:pt x="8" y="349"/>
                  </a:cubicBezTo>
                  <a:cubicBezTo>
                    <a:pt x="10" y="354"/>
                    <a:pt x="17" y="357"/>
                    <a:pt x="22" y="354"/>
                  </a:cubicBezTo>
                  <a:cubicBezTo>
                    <a:pt x="31" y="350"/>
                    <a:pt x="31" y="350"/>
                    <a:pt x="31" y="350"/>
                  </a:cubicBezTo>
                  <a:cubicBezTo>
                    <a:pt x="35" y="356"/>
                    <a:pt x="40" y="360"/>
                    <a:pt x="45" y="364"/>
                  </a:cubicBezTo>
                  <a:cubicBezTo>
                    <a:pt x="42" y="373"/>
                    <a:pt x="42" y="373"/>
                    <a:pt x="42" y="373"/>
                  </a:cubicBezTo>
                  <a:cubicBezTo>
                    <a:pt x="41" y="375"/>
                    <a:pt x="41" y="378"/>
                    <a:pt x="42" y="381"/>
                  </a:cubicBezTo>
                  <a:cubicBezTo>
                    <a:pt x="43" y="383"/>
                    <a:pt x="45" y="385"/>
                    <a:pt x="48" y="386"/>
                  </a:cubicBezTo>
                  <a:cubicBezTo>
                    <a:pt x="59" y="390"/>
                    <a:pt x="59" y="390"/>
                    <a:pt x="59" y="390"/>
                  </a:cubicBezTo>
                  <a:cubicBezTo>
                    <a:pt x="62" y="391"/>
                    <a:pt x="65" y="391"/>
                    <a:pt x="68" y="390"/>
                  </a:cubicBezTo>
                  <a:cubicBezTo>
                    <a:pt x="70" y="389"/>
                    <a:pt x="72" y="387"/>
                    <a:pt x="73" y="384"/>
                  </a:cubicBezTo>
                  <a:cubicBezTo>
                    <a:pt x="76" y="375"/>
                    <a:pt x="76" y="375"/>
                    <a:pt x="76" y="375"/>
                  </a:cubicBezTo>
                  <a:cubicBezTo>
                    <a:pt x="83" y="376"/>
                    <a:pt x="90" y="376"/>
                    <a:pt x="96" y="375"/>
                  </a:cubicBezTo>
                  <a:cubicBezTo>
                    <a:pt x="100" y="383"/>
                    <a:pt x="100" y="383"/>
                    <a:pt x="100" y="383"/>
                  </a:cubicBezTo>
                  <a:cubicBezTo>
                    <a:pt x="103" y="388"/>
                    <a:pt x="109" y="391"/>
                    <a:pt x="114" y="388"/>
                  </a:cubicBezTo>
                  <a:cubicBezTo>
                    <a:pt x="125" y="383"/>
                    <a:pt x="125" y="383"/>
                    <a:pt x="125" y="383"/>
                  </a:cubicBezTo>
                  <a:cubicBezTo>
                    <a:pt x="131" y="381"/>
                    <a:pt x="133" y="374"/>
                    <a:pt x="130" y="369"/>
                  </a:cubicBezTo>
                  <a:cubicBezTo>
                    <a:pt x="126" y="361"/>
                    <a:pt x="126" y="361"/>
                    <a:pt x="126" y="361"/>
                  </a:cubicBezTo>
                  <a:cubicBezTo>
                    <a:pt x="132" y="356"/>
                    <a:pt x="136" y="351"/>
                    <a:pt x="140" y="346"/>
                  </a:cubicBezTo>
                  <a:cubicBezTo>
                    <a:pt x="149" y="349"/>
                    <a:pt x="149" y="349"/>
                    <a:pt x="149" y="349"/>
                  </a:cubicBezTo>
                  <a:cubicBezTo>
                    <a:pt x="151" y="350"/>
                    <a:pt x="154" y="350"/>
                    <a:pt x="157" y="349"/>
                  </a:cubicBezTo>
                  <a:cubicBezTo>
                    <a:pt x="159" y="348"/>
                    <a:pt x="161" y="346"/>
                    <a:pt x="162" y="343"/>
                  </a:cubicBezTo>
                  <a:cubicBezTo>
                    <a:pt x="167" y="332"/>
                    <a:pt x="167" y="332"/>
                    <a:pt x="167" y="332"/>
                  </a:cubicBezTo>
                  <a:cubicBezTo>
                    <a:pt x="169" y="326"/>
                    <a:pt x="166" y="320"/>
                    <a:pt x="160" y="318"/>
                  </a:cubicBezTo>
                  <a:close/>
                  <a:moveTo>
                    <a:pt x="101" y="346"/>
                  </a:moveTo>
                  <a:cubicBezTo>
                    <a:pt x="96" y="349"/>
                    <a:pt x="90" y="350"/>
                    <a:pt x="84" y="350"/>
                  </a:cubicBezTo>
                  <a:cubicBezTo>
                    <a:pt x="67" y="350"/>
                    <a:pt x="52" y="340"/>
                    <a:pt x="45" y="325"/>
                  </a:cubicBezTo>
                  <a:cubicBezTo>
                    <a:pt x="35" y="304"/>
                    <a:pt x="45" y="279"/>
                    <a:pt x="66" y="269"/>
                  </a:cubicBezTo>
                  <a:cubicBezTo>
                    <a:pt x="72" y="266"/>
                    <a:pt x="77" y="265"/>
                    <a:pt x="84" y="265"/>
                  </a:cubicBezTo>
                  <a:cubicBezTo>
                    <a:pt x="100" y="265"/>
                    <a:pt x="115" y="275"/>
                    <a:pt x="122" y="290"/>
                  </a:cubicBezTo>
                  <a:cubicBezTo>
                    <a:pt x="132" y="311"/>
                    <a:pt x="123" y="336"/>
                    <a:pt x="101" y="346"/>
                  </a:cubicBezTo>
                  <a:close/>
                  <a:moveTo>
                    <a:pt x="266" y="349"/>
                  </a:moveTo>
                  <a:cubicBezTo>
                    <a:pt x="261" y="347"/>
                    <a:pt x="261" y="347"/>
                    <a:pt x="261" y="347"/>
                  </a:cubicBezTo>
                  <a:cubicBezTo>
                    <a:pt x="262" y="343"/>
                    <a:pt x="261" y="340"/>
                    <a:pt x="261" y="336"/>
                  </a:cubicBezTo>
                  <a:cubicBezTo>
                    <a:pt x="266" y="334"/>
                    <a:pt x="266" y="334"/>
                    <a:pt x="266" y="334"/>
                  </a:cubicBezTo>
                  <a:cubicBezTo>
                    <a:pt x="269" y="332"/>
                    <a:pt x="270" y="329"/>
                    <a:pt x="269" y="326"/>
                  </a:cubicBezTo>
                  <a:cubicBezTo>
                    <a:pt x="266" y="320"/>
                    <a:pt x="266" y="320"/>
                    <a:pt x="266" y="320"/>
                  </a:cubicBezTo>
                  <a:cubicBezTo>
                    <a:pt x="264" y="317"/>
                    <a:pt x="261" y="315"/>
                    <a:pt x="258" y="317"/>
                  </a:cubicBezTo>
                  <a:cubicBezTo>
                    <a:pt x="253" y="319"/>
                    <a:pt x="253" y="319"/>
                    <a:pt x="253" y="319"/>
                  </a:cubicBezTo>
                  <a:cubicBezTo>
                    <a:pt x="251" y="316"/>
                    <a:pt x="248" y="314"/>
                    <a:pt x="245" y="312"/>
                  </a:cubicBezTo>
                  <a:cubicBezTo>
                    <a:pt x="247" y="307"/>
                    <a:pt x="247" y="307"/>
                    <a:pt x="247" y="307"/>
                  </a:cubicBezTo>
                  <a:cubicBezTo>
                    <a:pt x="248" y="304"/>
                    <a:pt x="246" y="300"/>
                    <a:pt x="243" y="299"/>
                  </a:cubicBezTo>
                  <a:cubicBezTo>
                    <a:pt x="237" y="297"/>
                    <a:pt x="237" y="297"/>
                    <a:pt x="237" y="297"/>
                  </a:cubicBezTo>
                  <a:cubicBezTo>
                    <a:pt x="234" y="296"/>
                    <a:pt x="230" y="297"/>
                    <a:pt x="229" y="300"/>
                  </a:cubicBezTo>
                  <a:cubicBezTo>
                    <a:pt x="228" y="305"/>
                    <a:pt x="228" y="305"/>
                    <a:pt x="228" y="305"/>
                  </a:cubicBezTo>
                  <a:cubicBezTo>
                    <a:pt x="224" y="305"/>
                    <a:pt x="220" y="305"/>
                    <a:pt x="217" y="306"/>
                  </a:cubicBezTo>
                  <a:cubicBezTo>
                    <a:pt x="214" y="301"/>
                    <a:pt x="214" y="301"/>
                    <a:pt x="214" y="301"/>
                  </a:cubicBezTo>
                  <a:cubicBezTo>
                    <a:pt x="213" y="298"/>
                    <a:pt x="209" y="296"/>
                    <a:pt x="206" y="298"/>
                  </a:cubicBezTo>
                  <a:cubicBezTo>
                    <a:pt x="200" y="301"/>
                    <a:pt x="200" y="301"/>
                    <a:pt x="200" y="301"/>
                  </a:cubicBezTo>
                  <a:cubicBezTo>
                    <a:pt x="197" y="302"/>
                    <a:pt x="196" y="306"/>
                    <a:pt x="197" y="309"/>
                  </a:cubicBezTo>
                  <a:cubicBezTo>
                    <a:pt x="200" y="313"/>
                    <a:pt x="200" y="313"/>
                    <a:pt x="200" y="313"/>
                  </a:cubicBezTo>
                  <a:cubicBezTo>
                    <a:pt x="197" y="316"/>
                    <a:pt x="194" y="318"/>
                    <a:pt x="192" y="321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4" y="318"/>
                    <a:pt x="181" y="320"/>
                    <a:pt x="180" y="323"/>
                  </a:cubicBezTo>
                  <a:cubicBezTo>
                    <a:pt x="177" y="329"/>
                    <a:pt x="177" y="329"/>
                    <a:pt x="177" y="329"/>
                  </a:cubicBezTo>
                  <a:cubicBezTo>
                    <a:pt x="177" y="331"/>
                    <a:pt x="177" y="332"/>
                    <a:pt x="177" y="334"/>
                  </a:cubicBezTo>
                  <a:cubicBezTo>
                    <a:pt x="178" y="335"/>
                    <a:pt x="179" y="336"/>
                    <a:pt x="181" y="337"/>
                  </a:cubicBezTo>
                  <a:cubicBezTo>
                    <a:pt x="186" y="339"/>
                    <a:pt x="186" y="339"/>
                    <a:pt x="186" y="339"/>
                  </a:cubicBezTo>
                  <a:cubicBezTo>
                    <a:pt x="185" y="342"/>
                    <a:pt x="186" y="346"/>
                    <a:pt x="186" y="350"/>
                  </a:cubicBezTo>
                  <a:cubicBezTo>
                    <a:pt x="181" y="352"/>
                    <a:pt x="181" y="352"/>
                    <a:pt x="181" y="352"/>
                  </a:cubicBezTo>
                  <a:cubicBezTo>
                    <a:pt x="178" y="353"/>
                    <a:pt x="177" y="357"/>
                    <a:pt x="179" y="360"/>
                  </a:cubicBezTo>
                  <a:cubicBezTo>
                    <a:pt x="181" y="366"/>
                    <a:pt x="181" y="366"/>
                    <a:pt x="181" y="366"/>
                  </a:cubicBezTo>
                  <a:cubicBezTo>
                    <a:pt x="183" y="369"/>
                    <a:pt x="186" y="370"/>
                    <a:pt x="189" y="369"/>
                  </a:cubicBezTo>
                  <a:cubicBezTo>
                    <a:pt x="194" y="367"/>
                    <a:pt x="194" y="367"/>
                    <a:pt x="194" y="367"/>
                  </a:cubicBezTo>
                  <a:cubicBezTo>
                    <a:pt x="196" y="370"/>
                    <a:pt x="199" y="372"/>
                    <a:pt x="202" y="374"/>
                  </a:cubicBezTo>
                  <a:cubicBezTo>
                    <a:pt x="200" y="379"/>
                    <a:pt x="200" y="379"/>
                    <a:pt x="200" y="379"/>
                  </a:cubicBezTo>
                  <a:cubicBezTo>
                    <a:pt x="200" y="381"/>
                    <a:pt x="200" y="382"/>
                    <a:pt x="200" y="384"/>
                  </a:cubicBezTo>
                  <a:cubicBezTo>
                    <a:pt x="201" y="385"/>
                    <a:pt x="202" y="386"/>
                    <a:pt x="204" y="387"/>
                  </a:cubicBezTo>
                  <a:cubicBezTo>
                    <a:pt x="210" y="389"/>
                    <a:pt x="210" y="389"/>
                    <a:pt x="210" y="389"/>
                  </a:cubicBezTo>
                  <a:cubicBezTo>
                    <a:pt x="212" y="390"/>
                    <a:pt x="213" y="390"/>
                    <a:pt x="215" y="389"/>
                  </a:cubicBezTo>
                  <a:cubicBezTo>
                    <a:pt x="216" y="388"/>
                    <a:pt x="217" y="387"/>
                    <a:pt x="218" y="386"/>
                  </a:cubicBezTo>
                  <a:cubicBezTo>
                    <a:pt x="219" y="381"/>
                    <a:pt x="219" y="381"/>
                    <a:pt x="219" y="381"/>
                  </a:cubicBezTo>
                  <a:cubicBezTo>
                    <a:pt x="223" y="381"/>
                    <a:pt x="227" y="381"/>
                    <a:pt x="230" y="380"/>
                  </a:cubicBezTo>
                  <a:cubicBezTo>
                    <a:pt x="233" y="385"/>
                    <a:pt x="233" y="385"/>
                    <a:pt x="233" y="385"/>
                  </a:cubicBezTo>
                  <a:cubicBezTo>
                    <a:pt x="234" y="388"/>
                    <a:pt x="238" y="389"/>
                    <a:pt x="241" y="388"/>
                  </a:cubicBezTo>
                  <a:cubicBezTo>
                    <a:pt x="247" y="385"/>
                    <a:pt x="247" y="385"/>
                    <a:pt x="247" y="385"/>
                  </a:cubicBezTo>
                  <a:cubicBezTo>
                    <a:pt x="250" y="384"/>
                    <a:pt x="251" y="380"/>
                    <a:pt x="250" y="377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250" y="370"/>
                    <a:pt x="253" y="367"/>
                    <a:pt x="255" y="364"/>
                  </a:cubicBezTo>
                  <a:cubicBezTo>
                    <a:pt x="260" y="366"/>
                    <a:pt x="260" y="366"/>
                    <a:pt x="260" y="366"/>
                  </a:cubicBezTo>
                  <a:cubicBezTo>
                    <a:pt x="261" y="367"/>
                    <a:pt x="263" y="367"/>
                    <a:pt x="264" y="366"/>
                  </a:cubicBezTo>
                  <a:cubicBezTo>
                    <a:pt x="266" y="365"/>
                    <a:pt x="267" y="364"/>
                    <a:pt x="267" y="363"/>
                  </a:cubicBezTo>
                  <a:cubicBezTo>
                    <a:pt x="270" y="356"/>
                    <a:pt x="270" y="356"/>
                    <a:pt x="270" y="356"/>
                  </a:cubicBezTo>
                  <a:cubicBezTo>
                    <a:pt x="271" y="353"/>
                    <a:pt x="269" y="350"/>
                    <a:pt x="266" y="349"/>
                  </a:cubicBezTo>
                  <a:close/>
                  <a:moveTo>
                    <a:pt x="233" y="364"/>
                  </a:moveTo>
                  <a:cubicBezTo>
                    <a:pt x="230" y="366"/>
                    <a:pt x="227" y="366"/>
                    <a:pt x="224" y="366"/>
                  </a:cubicBezTo>
                  <a:cubicBezTo>
                    <a:pt x="214" y="366"/>
                    <a:pt x="206" y="361"/>
                    <a:pt x="202" y="353"/>
                  </a:cubicBezTo>
                  <a:cubicBezTo>
                    <a:pt x="197" y="341"/>
                    <a:pt x="202" y="327"/>
                    <a:pt x="214" y="321"/>
                  </a:cubicBezTo>
                  <a:cubicBezTo>
                    <a:pt x="217" y="320"/>
                    <a:pt x="220" y="319"/>
                    <a:pt x="223" y="319"/>
                  </a:cubicBezTo>
                  <a:cubicBezTo>
                    <a:pt x="233" y="319"/>
                    <a:pt x="241" y="325"/>
                    <a:pt x="245" y="333"/>
                  </a:cubicBezTo>
                  <a:cubicBezTo>
                    <a:pt x="250" y="345"/>
                    <a:pt x="245" y="359"/>
                    <a:pt x="233" y="364"/>
                  </a:cubicBezTo>
                  <a:close/>
                  <a:moveTo>
                    <a:pt x="378" y="160"/>
                  </a:moveTo>
                  <a:cubicBezTo>
                    <a:pt x="364" y="155"/>
                    <a:pt x="364" y="155"/>
                    <a:pt x="364" y="155"/>
                  </a:cubicBezTo>
                  <a:cubicBezTo>
                    <a:pt x="365" y="144"/>
                    <a:pt x="364" y="133"/>
                    <a:pt x="362" y="122"/>
                  </a:cubicBezTo>
                  <a:cubicBezTo>
                    <a:pt x="377" y="115"/>
                    <a:pt x="377" y="115"/>
                    <a:pt x="377" y="115"/>
                  </a:cubicBezTo>
                  <a:cubicBezTo>
                    <a:pt x="386" y="111"/>
                    <a:pt x="390" y="100"/>
                    <a:pt x="386" y="91"/>
                  </a:cubicBezTo>
                  <a:cubicBezTo>
                    <a:pt x="377" y="73"/>
                    <a:pt x="377" y="73"/>
                    <a:pt x="377" y="73"/>
                  </a:cubicBezTo>
                  <a:cubicBezTo>
                    <a:pt x="373" y="64"/>
                    <a:pt x="362" y="60"/>
                    <a:pt x="353" y="64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2" y="62"/>
                    <a:pt x="323" y="54"/>
                    <a:pt x="314" y="48"/>
                  </a:cubicBezTo>
                  <a:cubicBezTo>
                    <a:pt x="320" y="33"/>
                    <a:pt x="320" y="33"/>
                    <a:pt x="320" y="33"/>
                  </a:cubicBezTo>
                  <a:cubicBezTo>
                    <a:pt x="323" y="24"/>
                    <a:pt x="319" y="13"/>
                    <a:pt x="309" y="10"/>
                  </a:cubicBezTo>
                  <a:cubicBezTo>
                    <a:pt x="290" y="3"/>
                    <a:pt x="290" y="3"/>
                    <a:pt x="290" y="3"/>
                  </a:cubicBezTo>
                  <a:cubicBezTo>
                    <a:pt x="281" y="0"/>
                    <a:pt x="271" y="5"/>
                    <a:pt x="267" y="14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51" y="27"/>
                    <a:pt x="240" y="28"/>
                    <a:pt x="229" y="30"/>
                  </a:cubicBezTo>
                  <a:cubicBezTo>
                    <a:pt x="222" y="15"/>
                    <a:pt x="222" y="15"/>
                    <a:pt x="222" y="15"/>
                  </a:cubicBezTo>
                  <a:cubicBezTo>
                    <a:pt x="218" y="6"/>
                    <a:pt x="207" y="2"/>
                    <a:pt x="198" y="7"/>
                  </a:cubicBezTo>
                  <a:cubicBezTo>
                    <a:pt x="180" y="15"/>
                    <a:pt x="180" y="15"/>
                    <a:pt x="180" y="15"/>
                  </a:cubicBezTo>
                  <a:cubicBezTo>
                    <a:pt x="171" y="19"/>
                    <a:pt x="167" y="30"/>
                    <a:pt x="171" y="39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69" y="60"/>
                    <a:pt x="161" y="69"/>
                    <a:pt x="155" y="78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1" y="69"/>
                    <a:pt x="120" y="74"/>
                    <a:pt x="117" y="83"/>
                  </a:cubicBezTo>
                  <a:cubicBezTo>
                    <a:pt x="110" y="102"/>
                    <a:pt x="110" y="102"/>
                    <a:pt x="110" y="102"/>
                  </a:cubicBezTo>
                  <a:cubicBezTo>
                    <a:pt x="109" y="106"/>
                    <a:pt x="109" y="111"/>
                    <a:pt x="111" y="116"/>
                  </a:cubicBezTo>
                  <a:cubicBezTo>
                    <a:pt x="113" y="120"/>
                    <a:pt x="116" y="123"/>
                    <a:pt x="121" y="125"/>
                  </a:cubicBezTo>
                  <a:cubicBezTo>
                    <a:pt x="136" y="130"/>
                    <a:pt x="136" y="130"/>
                    <a:pt x="136" y="130"/>
                  </a:cubicBezTo>
                  <a:cubicBezTo>
                    <a:pt x="135" y="141"/>
                    <a:pt x="135" y="152"/>
                    <a:pt x="137" y="163"/>
                  </a:cubicBezTo>
                  <a:cubicBezTo>
                    <a:pt x="123" y="170"/>
                    <a:pt x="123" y="170"/>
                    <a:pt x="123" y="170"/>
                  </a:cubicBezTo>
                  <a:cubicBezTo>
                    <a:pt x="114" y="174"/>
                    <a:pt x="110" y="185"/>
                    <a:pt x="114" y="194"/>
                  </a:cubicBezTo>
                  <a:cubicBezTo>
                    <a:pt x="122" y="212"/>
                    <a:pt x="122" y="212"/>
                    <a:pt x="122" y="212"/>
                  </a:cubicBezTo>
                  <a:cubicBezTo>
                    <a:pt x="126" y="221"/>
                    <a:pt x="137" y="225"/>
                    <a:pt x="146" y="221"/>
                  </a:cubicBezTo>
                  <a:cubicBezTo>
                    <a:pt x="161" y="214"/>
                    <a:pt x="161" y="214"/>
                    <a:pt x="161" y="214"/>
                  </a:cubicBezTo>
                  <a:cubicBezTo>
                    <a:pt x="168" y="223"/>
                    <a:pt x="176" y="231"/>
                    <a:pt x="185" y="237"/>
                  </a:cubicBezTo>
                  <a:cubicBezTo>
                    <a:pt x="179" y="252"/>
                    <a:pt x="179" y="252"/>
                    <a:pt x="179" y="252"/>
                  </a:cubicBezTo>
                  <a:cubicBezTo>
                    <a:pt x="178" y="256"/>
                    <a:pt x="178" y="261"/>
                    <a:pt x="180" y="266"/>
                  </a:cubicBezTo>
                  <a:cubicBezTo>
                    <a:pt x="182" y="270"/>
                    <a:pt x="185" y="273"/>
                    <a:pt x="190" y="275"/>
                  </a:cubicBezTo>
                  <a:cubicBezTo>
                    <a:pt x="209" y="282"/>
                    <a:pt x="209" y="282"/>
                    <a:pt x="209" y="282"/>
                  </a:cubicBezTo>
                  <a:cubicBezTo>
                    <a:pt x="213" y="284"/>
                    <a:pt x="218" y="283"/>
                    <a:pt x="223" y="281"/>
                  </a:cubicBezTo>
                  <a:cubicBezTo>
                    <a:pt x="227" y="279"/>
                    <a:pt x="230" y="276"/>
                    <a:pt x="232" y="271"/>
                  </a:cubicBezTo>
                  <a:cubicBezTo>
                    <a:pt x="238" y="256"/>
                    <a:pt x="238" y="256"/>
                    <a:pt x="238" y="256"/>
                  </a:cubicBezTo>
                  <a:cubicBezTo>
                    <a:pt x="248" y="258"/>
                    <a:pt x="260" y="257"/>
                    <a:pt x="271" y="255"/>
                  </a:cubicBezTo>
                  <a:cubicBezTo>
                    <a:pt x="277" y="270"/>
                    <a:pt x="277" y="270"/>
                    <a:pt x="277" y="270"/>
                  </a:cubicBezTo>
                  <a:cubicBezTo>
                    <a:pt x="281" y="279"/>
                    <a:pt x="292" y="283"/>
                    <a:pt x="301" y="278"/>
                  </a:cubicBezTo>
                  <a:cubicBezTo>
                    <a:pt x="319" y="270"/>
                    <a:pt x="319" y="270"/>
                    <a:pt x="319" y="270"/>
                  </a:cubicBezTo>
                  <a:cubicBezTo>
                    <a:pt x="328" y="266"/>
                    <a:pt x="332" y="255"/>
                    <a:pt x="328" y="246"/>
                  </a:cubicBezTo>
                  <a:cubicBezTo>
                    <a:pt x="322" y="232"/>
                    <a:pt x="322" y="232"/>
                    <a:pt x="322" y="232"/>
                  </a:cubicBezTo>
                  <a:cubicBezTo>
                    <a:pt x="330" y="225"/>
                    <a:pt x="338" y="216"/>
                    <a:pt x="344" y="207"/>
                  </a:cubicBezTo>
                  <a:cubicBezTo>
                    <a:pt x="359" y="213"/>
                    <a:pt x="359" y="213"/>
                    <a:pt x="359" y="213"/>
                  </a:cubicBezTo>
                  <a:cubicBezTo>
                    <a:pt x="364" y="215"/>
                    <a:pt x="368" y="214"/>
                    <a:pt x="373" y="212"/>
                  </a:cubicBezTo>
                  <a:cubicBezTo>
                    <a:pt x="377" y="210"/>
                    <a:pt x="380" y="207"/>
                    <a:pt x="382" y="202"/>
                  </a:cubicBezTo>
                  <a:cubicBezTo>
                    <a:pt x="389" y="183"/>
                    <a:pt x="389" y="183"/>
                    <a:pt x="389" y="183"/>
                  </a:cubicBezTo>
                  <a:cubicBezTo>
                    <a:pt x="393" y="174"/>
                    <a:pt x="388" y="164"/>
                    <a:pt x="378" y="160"/>
                  </a:cubicBezTo>
                  <a:close/>
                  <a:moveTo>
                    <a:pt x="279" y="207"/>
                  </a:moveTo>
                  <a:cubicBezTo>
                    <a:pt x="270" y="212"/>
                    <a:pt x="260" y="214"/>
                    <a:pt x="250" y="214"/>
                  </a:cubicBezTo>
                  <a:cubicBezTo>
                    <a:pt x="222" y="214"/>
                    <a:pt x="197" y="197"/>
                    <a:pt x="185" y="172"/>
                  </a:cubicBezTo>
                  <a:cubicBezTo>
                    <a:pt x="169" y="137"/>
                    <a:pt x="184" y="94"/>
                    <a:pt x="220" y="78"/>
                  </a:cubicBezTo>
                  <a:cubicBezTo>
                    <a:pt x="229" y="74"/>
                    <a:pt x="239" y="71"/>
                    <a:pt x="250" y="71"/>
                  </a:cubicBezTo>
                  <a:cubicBezTo>
                    <a:pt x="277" y="71"/>
                    <a:pt x="303" y="88"/>
                    <a:pt x="314" y="113"/>
                  </a:cubicBezTo>
                  <a:cubicBezTo>
                    <a:pt x="331" y="148"/>
                    <a:pt x="315" y="191"/>
                    <a:pt x="279" y="2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16" name="小红书-苗猫大丸子(倒卖必究)-16"/>
          <p:cNvSpPr txBox="1"/>
          <p:nvPr/>
        </p:nvSpPr>
        <p:spPr>
          <a:xfrm>
            <a:off x="7724779" y="2146349"/>
            <a:ext cx="3963681" cy="33669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集成 </a:t>
            </a:r>
            <a:r>
              <a:rPr lang="en-US" altLang="zh-CN" sz="1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文本推理) 与 </a:t>
            </a:r>
            <a:r>
              <a:rPr lang="en-US" altLang="zh-CN" sz="1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Qwen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3.7 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视觉识图)。</a:t>
            </a:r>
          </a:p>
        </p:txBody>
      </p:sp>
      <p:sp>
        <p:nvSpPr>
          <p:cNvPr id="26" name="小红书-苗猫大丸子(倒卖必究)-26"/>
          <p:cNvSpPr txBox="1"/>
          <p:nvPr/>
        </p:nvSpPr>
        <p:spPr>
          <a:xfrm>
            <a:off x="7724779" y="3168769"/>
            <a:ext cx="3963681" cy="61369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采用 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FAISS 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向量检索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，大模型精准结合本地商品库进行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个性化推荐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7" name="小红书-苗猫大丸子(倒卖必究)-27"/>
          <p:cNvSpPr txBox="1"/>
          <p:nvPr/>
        </p:nvSpPr>
        <p:spPr>
          <a:xfrm>
            <a:off x="7706646" y="5471989"/>
            <a:ext cx="4008755" cy="11676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Go 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前端服务 (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Frontend) 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拦截用户消息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，通过内网 </a:t>
            </a:r>
            <a:r>
              <a:rPr lang="en-US" altLang="zh-CN" sz="1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gRPC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高速通道与 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r>
              <a:rPr lang="en-US" altLang="zh-CN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SSE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双向通信实现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流式输出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Go 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前端通过 </a:t>
            </a:r>
            <a:r>
              <a:rPr lang="en-US" altLang="zh-CN" sz="1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gRPC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拉取推荐结果并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动态渲染卡片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。用户点击商品图即可跳转至电商原生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商品详情页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cxnSp>
        <p:nvCxnSpPr>
          <p:cNvPr id="28" name="小红书-苗猫大丸子(倒卖必究)-28"/>
          <p:cNvCxnSpPr/>
          <p:nvPr/>
        </p:nvCxnSpPr>
        <p:spPr>
          <a:xfrm>
            <a:off x="6121402" y="3375598"/>
            <a:ext cx="425165" cy="0"/>
          </a:xfrm>
          <a:prstGeom prst="straightConnector1">
            <a:avLst/>
          </a:prstGeom>
          <a:noFill/>
          <a:ln w="9525" cap="flat" cmpd="sng" algn="ctr">
            <a:solidFill>
              <a:srgbClr val="57114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小红书-苗猫大丸子(倒卖必究)-29"/>
          <p:cNvCxnSpPr/>
          <p:nvPr/>
        </p:nvCxnSpPr>
        <p:spPr>
          <a:xfrm>
            <a:off x="6121402" y="4527438"/>
            <a:ext cx="425165" cy="0"/>
          </a:xfrm>
          <a:prstGeom prst="straightConnector1">
            <a:avLst/>
          </a:prstGeom>
          <a:noFill/>
          <a:ln w="9525" cap="flat" cmpd="sng" algn="ctr">
            <a:solidFill>
              <a:srgbClr val="571144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0" name="Group 3"/>
          <p:cNvGrpSpPr/>
          <p:nvPr/>
        </p:nvGrpSpPr>
        <p:grpSpPr>
          <a:xfrm>
            <a:off x="6121402" y="2178284"/>
            <a:ext cx="425165" cy="3494974"/>
            <a:chOff x="8046720" y="3256287"/>
            <a:chExt cx="637913" cy="5243827"/>
          </a:xfrm>
        </p:grpSpPr>
        <p:cxnSp>
          <p:nvCxnSpPr>
            <p:cNvPr id="31" name="小红书-苗猫大丸子(倒卖必究)-31"/>
            <p:cNvCxnSpPr/>
            <p:nvPr/>
          </p:nvCxnSpPr>
          <p:spPr>
            <a:xfrm>
              <a:off x="8046720" y="3256287"/>
              <a:ext cx="637913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57114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2" name="小红书-苗猫大丸子(倒卖必究)-32"/>
            <p:cNvCxnSpPr/>
            <p:nvPr/>
          </p:nvCxnSpPr>
          <p:spPr>
            <a:xfrm flipV="1">
              <a:off x="8046720" y="8500112"/>
              <a:ext cx="637913" cy="2"/>
            </a:xfrm>
            <a:prstGeom prst="straightConnector1">
              <a:avLst/>
            </a:prstGeom>
            <a:noFill/>
            <a:ln w="9525" cap="flat" cmpd="sng" algn="ctr">
              <a:solidFill>
                <a:srgbClr val="571144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33" name="Group 9"/>
          <p:cNvGrpSpPr/>
          <p:nvPr/>
        </p:nvGrpSpPr>
        <p:grpSpPr>
          <a:xfrm>
            <a:off x="6667642" y="4054032"/>
            <a:ext cx="906703" cy="908468"/>
            <a:chOff x="8866294" y="6047430"/>
            <a:chExt cx="1360409" cy="1363057"/>
          </a:xfrm>
        </p:grpSpPr>
        <p:sp>
          <p:nvSpPr>
            <p:cNvPr id="34" name="小红书-苗猫大丸子(倒卖必究)-34"/>
            <p:cNvSpPr>
              <a:spLocks noChangeArrowheads="1"/>
            </p:cNvSpPr>
            <p:nvPr/>
          </p:nvSpPr>
          <p:spPr bwMode="auto">
            <a:xfrm>
              <a:off x="8866294" y="6047430"/>
              <a:ext cx="1360409" cy="1363057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5" name="小红书-苗猫大丸子(倒卖必究)-35"/>
            <p:cNvSpPr>
              <a:spLocks noEditPoints="1"/>
            </p:cNvSpPr>
            <p:nvPr/>
          </p:nvSpPr>
          <p:spPr bwMode="auto">
            <a:xfrm>
              <a:off x="9152142" y="6420502"/>
              <a:ext cx="782395" cy="616911"/>
            </a:xfrm>
            <a:custGeom>
              <a:avLst/>
              <a:gdLst>
                <a:gd name="T0" fmla="*/ 969 w 1152"/>
                <a:gd name="T1" fmla="*/ 520 h 908"/>
                <a:gd name="T2" fmla="*/ 1145 w 1152"/>
                <a:gd name="T3" fmla="*/ 882 h 908"/>
                <a:gd name="T4" fmla="*/ 1128 w 1152"/>
                <a:gd name="T5" fmla="*/ 908 h 908"/>
                <a:gd name="T6" fmla="*/ 24 w 1152"/>
                <a:gd name="T7" fmla="*/ 908 h 908"/>
                <a:gd name="T8" fmla="*/ 7 w 1152"/>
                <a:gd name="T9" fmla="*/ 882 h 908"/>
                <a:gd name="T10" fmla="*/ 183 w 1152"/>
                <a:gd name="T11" fmla="*/ 520 h 908"/>
                <a:gd name="T12" fmla="*/ 200 w 1152"/>
                <a:gd name="T13" fmla="*/ 510 h 908"/>
                <a:gd name="T14" fmla="*/ 351 w 1152"/>
                <a:gd name="T15" fmla="*/ 510 h 908"/>
                <a:gd name="T16" fmla="*/ 365 w 1152"/>
                <a:gd name="T17" fmla="*/ 516 h 908"/>
                <a:gd name="T18" fmla="*/ 396 w 1152"/>
                <a:gd name="T19" fmla="*/ 551 h 908"/>
                <a:gd name="T20" fmla="*/ 426 w 1152"/>
                <a:gd name="T21" fmla="*/ 584 h 908"/>
                <a:gd name="T22" fmla="*/ 246 w 1152"/>
                <a:gd name="T23" fmla="*/ 584 h 908"/>
                <a:gd name="T24" fmla="*/ 230 w 1152"/>
                <a:gd name="T25" fmla="*/ 594 h 908"/>
                <a:gd name="T26" fmla="*/ 113 w 1152"/>
                <a:gd name="T27" fmla="*/ 834 h 908"/>
                <a:gd name="T28" fmla="*/ 1039 w 1152"/>
                <a:gd name="T29" fmla="*/ 834 h 908"/>
                <a:gd name="T30" fmla="*/ 922 w 1152"/>
                <a:gd name="T31" fmla="*/ 594 h 908"/>
                <a:gd name="T32" fmla="*/ 906 w 1152"/>
                <a:gd name="T33" fmla="*/ 584 h 908"/>
                <a:gd name="T34" fmla="*/ 726 w 1152"/>
                <a:gd name="T35" fmla="*/ 584 h 908"/>
                <a:gd name="T36" fmla="*/ 756 w 1152"/>
                <a:gd name="T37" fmla="*/ 551 h 908"/>
                <a:gd name="T38" fmla="*/ 787 w 1152"/>
                <a:gd name="T39" fmla="*/ 516 h 908"/>
                <a:gd name="T40" fmla="*/ 801 w 1152"/>
                <a:gd name="T41" fmla="*/ 510 h 908"/>
                <a:gd name="T42" fmla="*/ 952 w 1152"/>
                <a:gd name="T43" fmla="*/ 510 h 908"/>
                <a:gd name="T44" fmla="*/ 969 w 1152"/>
                <a:gd name="T45" fmla="*/ 520 h 908"/>
                <a:gd name="T46" fmla="*/ 835 w 1152"/>
                <a:gd name="T47" fmla="*/ 273 h 908"/>
                <a:gd name="T48" fmla="*/ 593 w 1152"/>
                <a:gd name="T49" fmla="*/ 697 h 908"/>
                <a:gd name="T50" fmla="*/ 559 w 1152"/>
                <a:gd name="T51" fmla="*/ 697 h 908"/>
                <a:gd name="T52" fmla="*/ 321 w 1152"/>
                <a:gd name="T53" fmla="*/ 327 h 908"/>
                <a:gd name="T54" fmla="*/ 551 w 1152"/>
                <a:gd name="T55" fmla="*/ 15 h 908"/>
                <a:gd name="T56" fmla="*/ 835 w 1152"/>
                <a:gd name="T57" fmla="*/ 273 h 908"/>
                <a:gd name="T58" fmla="*/ 713 w 1152"/>
                <a:gd name="T59" fmla="*/ 273 h 908"/>
                <a:gd name="T60" fmla="*/ 576 w 1152"/>
                <a:gd name="T61" fmla="*/ 136 h 908"/>
                <a:gd name="T62" fmla="*/ 439 w 1152"/>
                <a:gd name="T63" fmla="*/ 273 h 908"/>
                <a:gd name="T64" fmla="*/ 576 w 1152"/>
                <a:gd name="T65" fmla="*/ 410 h 908"/>
                <a:gd name="T66" fmla="*/ 713 w 1152"/>
                <a:gd name="T67" fmla="*/ 273 h 908"/>
                <a:gd name="T68" fmla="*/ 713 w 1152"/>
                <a:gd name="T69" fmla="*/ 273 h 908"/>
                <a:gd name="T70" fmla="*/ 713 w 1152"/>
                <a:gd name="T71" fmla="*/ 273 h 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52" h="907">
                  <a:moveTo>
                    <a:pt x="969" y="520"/>
                  </a:moveTo>
                  <a:cubicBezTo>
                    <a:pt x="1145" y="882"/>
                    <a:pt x="1145" y="882"/>
                    <a:pt x="1145" y="882"/>
                  </a:cubicBezTo>
                  <a:cubicBezTo>
                    <a:pt x="1152" y="896"/>
                    <a:pt x="1145" y="908"/>
                    <a:pt x="1128" y="908"/>
                  </a:cubicBezTo>
                  <a:cubicBezTo>
                    <a:pt x="24" y="908"/>
                    <a:pt x="24" y="908"/>
                    <a:pt x="24" y="908"/>
                  </a:cubicBezTo>
                  <a:cubicBezTo>
                    <a:pt x="7" y="908"/>
                    <a:pt x="0" y="896"/>
                    <a:pt x="7" y="882"/>
                  </a:cubicBezTo>
                  <a:cubicBezTo>
                    <a:pt x="183" y="520"/>
                    <a:pt x="183" y="520"/>
                    <a:pt x="183" y="520"/>
                  </a:cubicBezTo>
                  <a:cubicBezTo>
                    <a:pt x="186" y="514"/>
                    <a:pt x="193" y="510"/>
                    <a:pt x="200" y="510"/>
                  </a:cubicBezTo>
                  <a:cubicBezTo>
                    <a:pt x="351" y="510"/>
                    <a:pt x="351" y="510"/>
                    <a:pt x="351" y="510"/>
                  </a:cubicBezTo>
                  <a:cubicBezTo>
                    <a:pt x="355" y="510"/>
                    <a:pt x="362" y="512"/>
                    <a:pt x="365" y="516"/>
                  </a:cubicBezTo>
                  <a:cubicBezTo>
                    <a:pt x="375" y="528"/>
                    <a:pt x="385" y="539"/>
                    <a:pt x="396" y="551"/>
                  </a:cubicBezTo>
                  <a:cubicBezTo>
                    <a:pt x="406" y="562"/>
                    <a:pt x="416" y="573"/>
                    <a:pt x="426" y="584"/>
                  </a:cubicBezTo>
                  <a:cubicBezTo>
                    <a:pt x="246" y="584"/>
                    <a:pt x="246" y="584"/>
                    <a:pt x="246" y="584"/>
                  </a:cubicBezTo>
                  <a:cubicBezTo>
                    <a:pt x="240" y="584"/>
                    <a:pt x="232" y="589"/>
                    <a:pt x="230" y="594"/>
                  </a:cubicBezTo>
                  <a:cubicBezTo>
                    <a:pt x="113" y="834"/>
                    <a:pt x="113" y="834"/>
                    <a:pt x="113" y="834"/>
                  </a:cubicBezTo>
                  <a:cubicBezTo>
                    <a:pt x="1039" y="834"/>
                    <a:pt x="1039" y="834"/>
                    <a:pt x="1039" y="834"/>
                  </a:cubicBezTo>
                  <a:cubicBezTo>
                    <a:pt x="922" y="594"/>
                    <a:pt x="922" y="594"/>
                    <a:pt x="922" y="594"/>
                  </a:cubicBezTo>
                  <a:cubicBezTo>
                    <a:pt x="920" y="589"/>
                    <a:pt x="912" y="584"/>
                    <a:pt x="906" y="584"/>
                  </a:cubicBezTo>
                  <a:cubicBezTo>
                    <a:pt x="726" y="584"/>
                    <a:pt x="726" y="584"/>
                    <a:pt x="726" y="584"/>
                  </a:cubicBezTo>
                  <a:cubicBezTo>
                    <a:pt x="736" y="573"/>
                    <a:pt x="746" y="562"/>
                    <a:pt x="756" y="551"/>
                  </a:cubicBezTo>
                  <a:cubicBezTo>
                    <a:pt x="766" y="539"/>
                    <a:pt x="777" y="528"/>
                    <a:pt x="787" y="516"/>
                  </a:cubicBezTo>
                  <a:cubicBezTo>
                    <a:pt x="790" y="512"/>
                    <a:pt x="796" y="510"/>
                    <a:pt x="801" y="510"/>
                  </a:cubicBezTo>
                  <a:cubicBezTo>
                    <a:pt x="952" y="510"/>
                    <a:pt x="952" y="510"/>
                    <a:pt x="952" y="510"/>
                  </a:cubicBezTo>
                  <a:cubicBezTo>
                    <a:pt x="959" y="510"/>
                    <a:pt x="966" y="514"/>
                    <a:pt x="969" y="520"/>
                  </a:cubicBezTo>
                  <a:close/>
                  <a:moveTo>
                    <a:pt x="835" y="273"/>
                  </a:moveTo>
                  <a:cubicBezTo>
                    <a:pt x="835" y="470"/>
                    <a:pt x="670" y="508"/>
                    <a:pt x="593" y="697"/>
                  </a:cubicBezTo>
                  <a:cubicBezTo>
                    <a:pt x="587" y="713"/>
                    <a:pt x="565" y="713"/>
                    <a:pt x="559" y="697"/>
                  </a:cubicBezTo>
                  <a:cubicBezTo>
                    <a:pt x="489" y="526"/>
                    <a:pt x="348" y="479"/>
                    <a:pt x="321" y="327"/>
                  </a:cubicBezTo>
                  <a:cubicBezTo>
                    <a:pt x="295" y="176"/>
                    <a:pt x="399" y="29"/>
                    <a:pt x="551" y="15"/>
                  </a:cubicBezTo>
                  <a:cubicBezTo>
                    <a:pt x="705" y="0"/>
                    <a:pt x="835" y="121"/>
                    <a:pt x="835" y="273"/>
                  </a:cubicBezTo>
                  <a:close/>
                  <a:moveTo>
                    <a:pt x="713" y="273"/>
                  </a:moveTo>
                  <a:cubicBezTo>
                    <a:pt x="713" y="197"/>
                    <a:pt x="651" y="136"/>
                    <a:pt x="576" y="136"/>
                  </a:cubicBezTo>
                  <a:cubicBezTo>
                    <a:pt x="500" y="136"/>
                    <a:pt x="439" y="197"/>
                    <a:pt x="439" y="273"/>
                  </a:cubicBezTo>
                  <a:cubicBezTo>
                    <a:pt x="439" y="348"/>
                    <a:pt x="500" y="410"/>
                    <a:pt x="576" y="410"/>
                  </a:cubicBezTo>
                  <a:cubicBezTo>
                    <a:pt x="651" y="410"/>
                    <a:pt x="713" y="348"/>
                    <a:pt x="713" y="273"/>
                  </a:cubicBezTo>
                  <a:close/>
                  <a:moveTo>
                    <a:pt x="713" y="273"/>
                  </a:moveTo>
                  <a:cubicBezTo>
                    <a:pt x="713" y="273"/>
                    <a:pt x="713" y="273"/>
                    <a:pt x="713" y="273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36" name="Group 10"/>
          <p:cNvGrpSpPr/>
          <p:nvPr/>
        </p:nvGrpSpPr>
        <p:grpSpPr>
          <a:xfrm>
            <a:off x="6667642" y="5219023"/>
            <a:ext cx="906703" cy="908468"/>
            <a:chOff x="8866294" y="8077040"/>
            <a:chExt cx="1360409" cy="1363057"/>
          </a:xfrm>
        </p:grpSpPr>
        <p:sp>
          <p:nvSpPr>
            <p:cNvPr id="37" name="小红书-苗猫大丸子(倒卖必究)-37"/>
            <p:cNvSpPr>
              <a:spLocks noChangeArrowheads="1"/>
            </p:cNvSpPr>
            <p:nvPr/>
          </p:nvSpPr>
          <p:spPr bwMode="auto">
            <a:xfrm>
              <a:off x="8866294" y="8077040"/>
              <a:ext cx="1360409" cy="1363057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8" name="小红书-苗猫大丸子(倒卖必究)-38"/>
            <p:cNvSpPr>
              <a:spLocks noEditPoints="1"/>
            </p:cNvSpPr>
            <p:nvPr/>
          </p:nvSpPr>
          <p:spPr bwMode="auto">
            <a:xfrm>
              <a:off x="9199513" y="8386180"/>
              <a:ext cx="687388" cy="627063"/>
            </a:xfrm>
            <a:custGeom>
              <a:avLst/>
              <a:gdLst>
                <a:gd name="T0" fmla="*/ 872 w 929"/>
                <a:gd name="T1" fmla="*/ 232 h 850"/>
                <a:gd name="T2" fmla="*/ 814 w 929"/>
                <a:gd name="T3" fmla="*/ 177 h 850"/>
                <a:gd name="T4" fmla="*/ 512 w 929"/>
                <a:gd name="T5" fmla="*/ 491 h 850"/>
                <a:gd name="T6" fmla="*/ 484 w 929"/>
                <a:gd name="T7" fmla="*/ 504 h 850"/>
                <a:gd name="T8" fmla="*/ 484 w 929"/>
                <a:gd name="T9" fmla="*/ 504 h 850"/>
                <a:gd name="T10" fmla="*/ 455 w 929"/>
                <a:gd name="T11" fmla="*/ 491 h 850"/>
                <a:gd name="T12" fmla="*/ 297 w 929"/>
                <a:gd name="T13" fmla="*/ 328 h 850"/>
                <a:gd name="T14" fmla="*/ 73 w 929"/>
                <a:gd name="T15" fmla="*/ 564 h 850"/>
                <a:gd name="T16" fmla="*/ 44 w 929"/>
                <a:gd name="T17" fmla="*/ 577 h 850"/>
                <a:gd name="T18" fmla="*/ 17 w 929"/>
                <a:gd name="T19" fmla="*/ 566 h 850"/>
                <a:gd name="T20" fmla="*/ 15 w 929"/>
                <a:gd name="T21" fmla="*/ 509 h 850"/>
                <a:gd name="T22" fmla="*/ 268 w 929"/>
                <a:gd name="T23" fmla="*/ 243 h 850"/>
                <a:gd name="T24" fmla="*/ 297 w 929"/>
                <a:gd name="T25" fmla="*/ 231 h 850"/>
                <a:gd name="T26" fmla="*/ 297 w 929"/>
                <a:gd name="T27" fmla="*/ 231 h 850"/>
                <a:gd name="T28" fmla="*/ 326 w 929"/>
                <a:gd name="T29" fmla="*/ 243 h 850"/>
                <a:gd name="T30" fmla="*/ 484 w 929"/>
                <a:gd name="T31" fmla="*/ 406 h 850"/>
                <a:gd name="T32" fmla="*/ 757 w 929"/>
                <a:gd name="T33" fmla="*/ 122 h 850"/>
                <a:gd name="T34" fmla="*/ 699 w 929"/>
                <a:gd name="T35" fmla="*/ 67 h 850"/>
                <a:gd name="T36" fmla="*/ 929 w 929"/>
                <a:gd name="T37" fmla="*/ 0 h 850"/>
                <a:gd name="T38" fmla="*/ 872 w 929"/>
                <a:gd name="T39" fmla="*/ 232 h 850"/>
                <a:gd name="T40" fmla="*/ 44 w 929"/>
                <a:gd name="T41" fmla="*/ 630 h 850"/>
                <a:gd name="T42" fmla="*/ 18 w 929"/>
                <a:gd name="T43" fmla="*/ 626 h 850"/>
                <a:gd name="T44" fmla="*/ 18 w 929"/>
                <a:gd name="T45" fmla="*/ 850 h 850"/>
                <a:gd name="T46" fmla="*/ 138 w 929"/>
                <a:gd name="T47" fmla="*/ 850 h 850"/>
                <a:gd name="T48" fmla="*/ 138 w 929"/>
                <a:gd name="T49" fmla="*/ 574 h 850"/>
                <a:gd name="T50" fmla="*/ 112 w 929"/>
                <a:gd name="T51" fmla="*/ 601 h 850"/>
                <a:gd name="T52" fmla="*/ 44 w 929"/>
                <a:gd name="T53" fmla="*/ 630 h 850"/>
                <a:gd name="T54" fmla="*/ 164 w 929"/>
                <a:gd name="T55" fmla="*/ 850 h 850"/>
                <a:gd name="T56" fmla="*/ 284 w 929"/>
                <a:gd name="T57" fmla="*/ 850 h 850"/>
                <a:gd name="T58" fmla="*/ 284 w 929"/>
                <a:gd name="T59" fmla="*/ 420 h 850"/>
                <a:gd name="T60" fmla="*/ 164 w 929"/>
                <a:gd name="T61" fmla="*/ 546 h 850"/>
                <a:gd name="T62" fmla="*/ 164 w 929"/>
                <a:gd name="T63" fmla="*/ 850 h 850"/>
                <a:gd name="T64" fmla="*/ 417 w 929"/>
                <a:gd name="T65" fmla="*/ 528 h 850"/>
                <a:gd name="T66" fmla="*/ 311 w 929"/>
                <a:gd name="T67" fmla="*/ 418 h 850"/>
                <a:gd name="T68" fmla="*/ 311 w 929"/>
                <a:gd name="T69" fmla="*/ 850 h 850"/>
                <a:gd name="T70" fmla="*/ 430 w 929"/>
                <a:gd name="T71" fmla="*/ 850 h 850"/>
                <a:gd name="T72" fmla="*/ 430 w 929"/>
                <a:gd name="T73" fmla="*/ 540 h 850"/>
                <a:gd name="T74" fmla="*/ 417 w 929"/>
                <a:gd name="T75" fmla="*/ 528 h 850"/>
                <a:gd name="T76" fmla="*/ 484 w 929"/>
                <a:gd name="T77" fmla="*/ 557 h 850"/>
                <a:gd name="T78" fmla="*/ 457 w 929"/>
                <a:gd name="T79" fmla="*/ 553 h 850"/>
                <a:gd name="T80" fmla="*/ 457 w 929"/>
                <a:gd name="T81" fmla="*/ 850 h 850"/>
                <a:gd name="T82" fmla="*/ 577 w 929"/>
                <a:gd name="T83" fmla="*/ 850 h 850"/>
                <a:gd name="T84" fmla="*/ 577 w 929"/>
                <a:gd name="T85" fmla="*/ 501 h 850"/>
                <a:gd name="T86" fmla="*/ 551 w 929"/>
                <a:gd name="T87" fmla="*/ 528 h 850"/>
                <a:gd name="T88" fmla="*/ 484 w 929"/>
                <a:gd name="T89" fmla="*/ 557 h 850"/>
                <a:gd name="T90" fmla="*/ 603 w 929"/>
                <a:gd name="T91" fmla="*/ 473 h 850"/>
                <a:gd name="T92" fmla="*/ 603 w 929"/>
                <a:gd name="T93" fmla="*/ 850 h 850"/>
                <a:gd name="T94" fmla="*/ 723 w 929"/>
                <a:gd name="T95" fmla="*/ 850 h 850"/>
                <a:gd name="T96" fmla="*/ 723 w 929"/>
                <a:gd name="T97" fmla="*/ 349 h 850"/>
                <a:gd name="T98" fmla="*/ 603 w 929"/>
                <a:gd name="T99" fmla="*/ 473 h 850"/>
                <a:gd name="T100" fmla="*/ 816 w 929"/>
                <a:gd name="T101" fmla="*/ 252 h 850"/>
                <a:gd name="T102" fmla="*/ 750 w 929"/>
                <a:gd name="T103" fmla="*/ 321 h 850"/>
                <a:gd name="T104" fmla="*/ 750 w 929"/>
                <a:gd name="T105" fmla="*/ 850 h 850"/>
                <a:gd name="T106" fmla="*/ 870 w 929"/>
                <a:gd name="T107" fmla="*/ 850 h 850"/>
                <a:gd name="T108" fmla="*/ 870 w 929"/>
                <a:gd name="T109" fmla="*/ 304 h 850"/>
                <a:gd name="T110" fmla="*/ 816 w 929"/>
                <a:gd name="T111" fmla="*/ 252 h 850"/>
                <a:gd name="T112" fmla="*/ 816 w 929"/>
                <a:gd name="T113" fmla="*/ 252 h 850"/>
                <a:gd name="T114" fmla="*/ 816 w 929"/>
                <a:gd name="T115" fmla="*/ 252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9" h="850">
                  <a:moveTo>
                    <a:pt x="872" y="232"/>
                  </a:moveTo>
                  <a:cubicBezTo>
                    <a:pt x="814" y="177"/>
                    <a:pt x="814" y="177"/>
                    <a:pt x="814" y="177"/>
                  </a:cubicBezTo>
                  <a:cubicBezTo>
                    <a:pt x="512" y="491"/>
                    <a:pt x="512" y="491"/>
                    <a:pt x="512" y="491"/>
                  </a:cubicBezTo>
                  <a:cubicBezTo>
                    <a:pt x="505" y="499"/>
                    <a:pt x="494" y="504"/>
                    <a:pt x="484" y="504"/>
                  </a:cubicBezTo>
                  <a:cubicBezTo>
                    <a:pt x="484" y="504"/>
                    <a:pt x="484" y="504"/>
                    <a:pt x="484" y="504"/>
                  </a:cubicBezTo>
                  <a:cubicBezTo>
                    <a:pt x="473" y="504"/>
                    <a:pt x="462" y="499"/>
                    <a:pt x="455" y="491"/>
                  </a:cubicBezTo>
                  <a:cubicBezTo>
                    <a:pt x="297" y="328"/>
                    <a:pt x="297" y="328"/>
                    <a:pt x="297" y="328"/>
                  </a:cubicBezTo>
                  <a:cubicBezTo>
                    <a:pt x="73" y="564"/>
                    <a:pt x="73" y="564"/>
                    <a:pt x="73" y="564"/>
                  </a:cubicBezTo>
                  <a:cubicBezTo>
                    <a:pt x="65" y="573"/>
                    <a:pt x="55" y="577"/>
                    <a:pt x="44" y="577"/>
                  </a:cubicBezTo>
                  <a:cubicBezTo>
                    <a:pt x="34" y="577"/>
                    <a:pt x="25" y="573"/>
                    <a:pt x="17" y="566"/>
                  </a:cubicBezTo>
                  <a:cubicBezTo>
                    <a:pt x="1" y="551"/>
                    <a:pt x="0" y="525"/>
                    <a:pt x="15" y="509"/>
                  </a:cubicBezTo>
                  <a:cubicBezTo>
                    <a:pt x="268" y="243"/>
                    <a:pt x="268" y="243"/>
                    <a:pt x="268" y="243"/>
                  </a:cubicBezTo>
                  <a:cubicBezTo>
                    <a:pt x="276" y="235"/>
                    <a:pt x="286" y="231"/>
                    <a:pt x="297" y="231"/>
                  </a:cubicBezTo>
                  <a:cubicBezTo>
                    <a:pt x="297" y="231"/>
                    <a:pt x="297" y="231"/>
                    <a:pt x="297" y="231"/>
                  </a:cubicBezTo>
                  <a:cubicBezTo>
                    <a:pt x="308" y="231"/>
                    <a:pt x="318" y="235"/>
                    <a:pt x="326" y="243"/>
                  </a:cubicBezTo>
                  <a:cubicBezTo>
                    <a:pt x="484" y="406"/>
                    <a:pt x="484" y="406"/>
                    <a:pt x="484" y="406"/>
                  </a:cubicBezTo>
                  <a:cubicBezTo>
                    <a:pt x="757" y="122"/>
                    <a:pt x="757" y="122"/>
                    <a:pt x="757" y="122"/>
                  </a:cubicBezTo>
                  <a:cubicBezTo>
                    <a:pt x="699" y="67"/>
                    <a:pt x="699" y="67"/>
                    <a:pt x="699" y="67"/>
                  </a:cubicBezTo>
                  <a:cubicBezTo>
                    <a:pt x="929" y="0"/>
                    <a:pt x="929" y="0"/>
                    <a:pt x="929" y="0"/>
                  </a:cubicBezTo>
                  <a:lnTo>
                    <a:pt x="872" y="232"/>
                  </a:lnTo>
                  <a:close/>
                  <a:moveTo>
                    <a:pt x="44" y="630"/>
                  </a:moveTo>
                  <a:cubicBezTo>
                    <a:pt x="35" y="630"/>
                    <a:pt x="26" y="629"/>
                    <a:pt x="18" y="626"/>
                  </a:cubicBezTo>
                  <a:cubicBezTo>
                    <a:pt x="18" y="850"/>
                    <a:pt x="18" y="850"/>
                    <a:pt x="18" y="850"/>
                  </a:cubicBezTo>
                  <a:cubicBezTo>
                    <a:pt x="138" y="850"/>
                    <a:pt x="138" y="850"/>
                    <a:pt x="138" y="850"/>
                  </a:cubicBezTo>
                  <a:cubicBezTo>
                    <a:pt x="138" y="574"/>
                    <a:pt x="138" y="574"/>
                    <a:pt x="138" y="574"/>
                  </a:cubicBezTo>
                  <a:cubicBezTo>
                    <a:pt x="112" y="601"/>
                    <a:pt x="112" y="601"/>
                    <a:pt x="112" y="601"/>
                  </a:cubicBezTo>
                  <a:cubicBezTo>
                    <a:pt x="94" y="619"/>
                    <a:pt x="70" y="630"/>
                    <a:pt x="44" y="630"/>
                  </a:cubicBezTo>
                  <a:close/>
                  <a:moveTo>
                    <a:pt x="164" y="850"/>
                  </a:moveTo>
                  <a:cubicBezTo>
                    <a:pt x="284" y="850"/>
                    <a:pt x="284" y="850"/>
                    <a:pt x="284" y="850"/>
                  </a:cubicBezTo>
                  <a:cubicBezTo>
                    <a:pt x="284" y="420"/>
                    <a:pt x="284" y="420"/>
                    <a:pt x="284" y="420"/>
                  </a:cubicBezTo>
                  <a:cubicBezTo>
                    <a:pt x="164" y="546"/>
                    <a:pt x="164" y="546"/>
                    <a:pt x="164" y="546"/>
                  </a:cubicBezTo>
                  <a:lnTo>
                    <a:pt x="164" y="850"/>
                  </a:lnTo>
                  <a:close/>
                  <a:moveTo>
                    <a:pt x="417" y="528"/>
                  </a:moveTo>
                  <a:cubicBezTo>
                    <a:pt x="311" y="418"/>
                    <a:pt x="311" y="418"/>
                    <a:pt x="311" y="418"/>
                  </a:cubicBezTo>
                  <a:cubicBezTo>
                    <a:pt x="311" y="850"/>
                    <a:pt x="311" y="850"/>
                    <a:pt x="311" y="850"/>
                  </a:cubicBezTo>
                  <a:cubicBezTo>
                    <a:pt x="430" y="850"/>
                    <a:pt x="430" y="850"/>
                    <a:pt x="430" y="850"/>
                  </a:cubicBezTo>
                  <a:cubicBezTo>
                    <a:pt x="430" y="540"/>
                    <a:pt x="430" y="540"/>
                    <a:pt x="430" y="540"/>
                  </a:cubicBezTo>
                  <a:cubicBezTo>
                    <a:pt x="425" y="537"/>
                    <a:pt x="421" y="533"/>
                    <a:pt x="417" y="528"/>
                  </a:cubicBezTo>
                  <a:close/>
                  <a:moveTo>
                    <a:pt x="484" y="557"/>
                  </a:moveTo>
                  <a:cubicBezTo>
                    <a:pt x="474" y="557"/>
                    <a:pt x="466" y="555"/>
                    <a:pt x="457" y="553"/>
                  </a:cubicBezTo>
                  <a:cubicBezTo>
                    <a:pt x="457" y="850"/>
                    <a:pt x="457" y="850"/>
                    <a:pt x="457" y="850"/>
                  </a:cubicBezTo>
                  <a:cubicBezTo>
                    <a:pt x="577" y="850"/>
                    <a:pt x="577" y="850"/>
                    <a:pt x="577" y="850"/>
                  </a:cubicBezTo>
                  <a:cubicBezTo>
                    <a:pt x="577" y="501"/>
                    <a:pt x="577" y="501"/>
                    <a:pt x="577" y="501"/>
                  </a:cubicBezTo>
                  <a:cubicBezTo>
                    <a:pt x="551" y="528"/>
                    <a:pt x="551" y="528"/>
                    <a:pt x="551" y="528"/>
                  </a:cubicBezTo>
                  <a:cubicBezTo>
                    <a:pt x="533" y="546"/>
                    <a:pt x="509" y="557"/>
                    <a:pt x="484" y="557"/>
                  </a:cubicBezTo>
                  <a:close/>
                  <a:moveTo>
                    <a:pt x="603" y="473"/>
                  </a:moveTo>
                  <a:cubicBezTo>
                    <a:pt x="603" y="850"/>
                    <a:pt x="603" y="850"/>
                    <a:pt x="603" y="850"/>
                  </a:cubicBezTo>
                  <a:cubicBezTo>
                    <a:pt x="723" y="850"/>
                    <a:pt x="723" y="850"/>
                    <a:pt x="723" y="850"/>
                  </a:cubicBezTo>
                  <a:cubicBezTo>
                    <a:pt x="723" y="349"/>
                    <a:pt x="723" y="349"/>
                    <a:pt x="723" y="349"/>
                  </a:cubicBezTo>
                  <a:lnTo>
                    <a:pt x="603" y="473"/>
                  </a:lnTo>
                  <a:close/>
                  <a:moveTo>
                    <a:pt x="816" y="252"/>
                  </a:moveTo>
                  <a:cubicBezTo>
                    <a:pt x="750" y="321"/>
                    <a:pt x="750" y="321"/>
                    <a:pt x="750" y="321"/>
                  </a:cubicBezTo>
                  <a:cubicBezTo>
                    <a:pt x="750" y="850"/>
                    <a:pt x="750" y="850"/>
                    <a:pt x="750" y="850"/>
                  </a:cubicBezTo>
                  <a:cubicBezTo>
                    <a:pt x="870" y="850"/>
                    <a:pt x="870" y="850"/>
                    <a:pt x="870" y="850"/>
                  </a:cubicBezTo>
                  <a:cubicBezTo>
                    <a:pt x="870" y="304"/>
                    <a:pt x="870" y="304"/>
                    <a:pt x="870" y="304"/>
                  </a:cubicBezTo>
                  <a:lnTo>
                    <a:pt x="816" y="252"/>
                  </a:lnTo>
                  <a:close/>
                  <a:moveTo>
                    <a:pt x="816" y="252"/>
                  </a:moveTo>
                  <a:cubicBezTo>
                    <a:pt x="816" y="252"/>
                    <a:pt x="816" y="252"/>
                    <a:pt x="816" y="252"/>
                  </a:cubicBezTo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39" name="Group 4"/>
          <p:cNvGrpSpPr/>
          <p:nvPr/>
        </p:nvGrpSpPr>
        <p:grpSpPr>
          <a:xfrm>
            <a:off x="6667642" y="1724050"/>
            <a:ext cx="906703" cy="908468"/>
            <a:chOff x="8866293" y="2049856"/>
            <a:chExt cx="1360409" cy="1363056"/>
          </a:xfrm>
        </p:grpSpPr>
        <p:sp>
          <p:nvSpPr>
            <p:cNvPr id="40" name="小红书-苗猫大丸子(倒卖必究)-40"/>
            <p:cNvSpPr>
              <a:spLocks noChangeArrowheads="1"/>
            </p:cNvSpPr>
            <p:nvPr/>
          </p:nvSpPr>
          <p:spPr bwMode="auto">
            <a:xfrm>
              <a:off x="8866293" y="2049856"/>
              <a:ext cx="1360409" cy="1363056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41" name="小红书-苗猫大丸子(倒卖必究)-41"/>
            <p:cNvSpPr/>
            <p:nvPr/>
          </p:nvSpPr>
          <p:spPr bwMode="auto">
            <a:xfrm>
              <a:off x="9207501" y="2422525"/>
              <a:ext cx="679449" cy="619126"/>
            </a:xfrm>
            <a:custGeom>
              <a:avLst/>
              <a:gdLst>
                <a:gd name="T0" fmla="*/ 65 w 84"/>
                <a:gd name="T1" fmla="*/ 32 h 76"/>
                <a:gd name="T2" fmla="*/ 76 w 84"/>
                <a:gd name="T3" fmla="*/ 30 h 76"/>
                <a:gd name="T4" fmla="*/ 82 w 84"/>
                <a:gd name="T5" fmla="*/ 10 h 76"/>
                <a:gd name="T6" fmla="*/ 74 w 84"/>
                <a:gd name="T7" fmla="*/ 1 h 76"/>
                <a:gd name="T8" fmla="*/ 54 w 84"/>
                <a:gd name="T9" fmla="*/ 5 h 76"/>
                <a:gd name="T10" fmla="*/ 50 w 84"/>
                <a:gd name="T11" fmla="*/ 15 h 76"/>
                <a:gd name="T12" fmla="*/ 55 w 84"/>
                <a:gd name="T13" fmla="*/ 21 h 76"/>
                <a:gd name="T14" fmla="*/ 11 w 84"/>
                <a:gd name="T15" fmla="*/ 60 h 76"/>
                <a:gd name="T16" fmla="*/ 9 w 84"/>
                <a:gd name="T17" fmla="*/ 33 h 76"/>
                <a:gd name="T18" fmla="*/ 13 w 84"/>
                <a:gd name="T19" fmla="*/ 29 h 76"/>
                <a:gd name="T20" fmla="*/ 28 w 84"/>
                <a:gd name="T21" fmla="*/ 28 h 76"/>
                <a:gd name="T22" fmla="*/ 30 w 84"/>
                <a:gd name="T23" fmla="*/ 9 h 76"/>
                <a:gd name="T24" fmla="*/ 11 w 84"/>
                <a:gd name="T25" fmla="*/ 8 h 76"/>
                <a:gd name="T26" fmla="*/ 7 w 84"/>
                <a:gd name="T27" fmla="*/ 23 h 76"/>
                <a:gd name="T28" fmla="*/ 4 w 84"/>
                <a:gd name="T29" fmla="*/ 27 h 76"/>
                <a:gd name="T30" fmla="*/ 0 w 84"/>
                <a:gd name="T31" fmla="*/ 35 h 76"/>
                <a:gd name="T32" fmla="*/ 3 w 84"/>
                <a:gd name="T33" fmla="*/ 66 h 76"/>
                <a:gd name="T34" fmla="*/ 42 w 84"/>
                <a:gd name="T35" fmla="*/ 75 h 76"/>
                <a:gd name="T36" fmla="*/ 51 w 84"/>
                <a:gd name="T37" fmla="*/ 73 h 76"/>
                <a:gd name="T38" fmla="*/ 57 w 84"/>
                <a:gd name="T39" fmla="*/ 68 h 76"/>
                <a:gd name="T40" fmla="*/ 58 w 84"/>
                <a:gd name="T41" fmla="*/ 70 h 76"/>
                <a:gd name="T42" fmla="*/ 69 w 84"/>
                <a:gd name="T43" fmla="*/ 71 h 76"/>
                <a:gd name="T44" fmla="*/ 77 w 84"/>
                <a:gd name="T45" fmla="*/ 63 h 76"/>
                <a:gd name="T46" fmla="*/ 78 w 84"/>
                <a:gd name="T47" fmla="*/ 53 h 76"/>
                <a:gd name="T48" fmla="*/ 69 w 84"/>
                <a:gd name="T49" fmla="*/ 43 h 76"/>
                <a:gd name="T50" fmla="*/ 58 w 84"/>
                <a:gd name="T51" fmla="*/ 42 h 76"/>
                <a:gd name="T52" fmla="*/ 50 w 84"/>
                <a:gd name="T53" fmla="*/ 50 h 76"/>
                <a:gd name="T54" fmla="*/ 49 w 84"/>
                <a:gd name="T55" fmla="*/ 60 h 76"/>
                <a:gd name="T56" fmla="*/ 51 w 84"/>
                <a:gd name="T57" fmla="*/ 62 h 76"/>
                <a:gd name="T58" fmla="*/ 45 w 84"/>
                <a:gd name="T59" fmla="*/ 67 h 76"/>
                <a:gd name="T60" fmla="*/ 22 w 84"/>
                <a:gd name="T61" fmla="*/ 62 h 76"/>
                <a:gd name="T62" fmla="*/ 61 w 84"/>
                <a:gd name="T63" fmla="*/ 27 h 76"/>
                <a:gd name="T64" fmla="*/ 65 w 84"/>
                <a:gd name="T65" fmla="*/ 3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" h="76">
                  <a:moveTo>
                    <a:pt x="65" y="32"/>
                  </a:moveTo>
                  <a:cubicBezTo>
                    <a:pt x="69" y="36"/>
                    <a:pt x="75" y="34"/>
                    <a:pt x="76" y="30"/>
                  </a:cubicBezTo>
                  <a:cubicBezTo>
                    <a:pt x="82" y="10"/>
                    <a:pt x="82" y="10"/>
                    <a:pt x="82" y="10"/>
                  </a:cubicBezTo>
                  <a:cubicBezTo>
                    <a:pt x="84" y="5"/>
                    <a:pt x="79" y="0"/>
                    <a:pt x="74" y="1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6"/>
                    <a:pt x="47" y="11"/>
                    <a:pt x="50" y="15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8" y="32"/>
                    <a:pt x="24" y="32"/>
                    <a:pt x="28" y="28"/>
                  </a:cubicBezTo>
                  <a:cubicBezTo>
                    <a:pt x="34" y="23"/>
                    <a:pt x="34" y="15"/>
                    <a:pt x="30" y="9"/>
                  </a:cubicBezTo>
                  <a:cubicBezTo>
                    <a:pt x="25" y="3"/>
                    <a:pt x="16" y="3"/>
                    <a:pt x="11" y="8"/>
                  </a:cubicBezTo>
                  <a:cubicBezTo>
                    <a:pt x="6" y="12"/>
                    <a:pt x="5" y="18"/>
                    <a:pt x="7" y="23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1" y="29"/>
                    <a:pt x="0" y="32"/>
                    <a:pt x="0" y="35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6" y="76"/>
                    <a:pt x="49" y="75"/>
                    <a:pt x="51" y="73"/>
                  </a:cubicBezTo>
                  <a:cubicBezTo>
                    <a:pt x="57" y="68"/>
                    <a:pt x="57" y="68"/>
                    <a:pt x="57" y="68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61" y="73"/>
                    <a:pt x="66" y="73"/>
                    <a:pt x="69" y="71"/>
                  </a:cubicBezTo>
                  <a:cubicBezTo>
                    <a:pt x="77" y="63"/>
                    <a:pt x="77" y="63"/>
                    <a:pt x="77" y="63"/>
                  </a:cubicBezTo>
                  <a:cubicBezTo>
                    <a:pt x="80" y="60"/>
                    <a:pt x="80" y="56"/>
                    <a:pt x="78" y="53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6" y="40"/>
                    <a:pt x="61" y="39"/>
                    <a:pt x="58" y="42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47" y="52"/>
                    <a:pt x="47" y="57"/>
                    <a:pt x="49" y="60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45" y="67"/>
                    <a:pt x="45" y="67"/>
                    <a:pt x="45" y="67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61" y="27"/>
                    <a:pt x="61" y="27"/>
                    <a:pt x="61" y="27"/>
                  </a:cubicBezTo>
                  <a:lnTo>
                    <a:pt x="65" y="32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60944" tIns="30472" rIns="60944" bIns="30472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0" y="21727"/>
            <a:ext cx="12192000" cy="792000"/>
            <a:chOff x="0" y="0"/>
            <a:chExt cx="12192000" cy="792000"/>
          </a:xfrm>
        </p:grpSpPr>
        <p:sp>
          <p:nvSpPr>
            <p:cNvPr id="56" name="小红书-苗猫大丸子(倒卖必究)-56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57" name="小红书-苗猫大丸子(倒卖必究)-57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小红书-苗猫大丸子(倒卖必究)-60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小红书-苗猫大丸子(倒卖必究)-62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小红书-苗猫大丸子(倒卖必究)-64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9" name="Picture 88" descr="南开大学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6020" y="40125"/>
              <a:ext cx="2011854" cy="711433"/>
            </a:xfrm>
            <a:prstGeom prst="rect">
              <a:avLst/>
            </a:prstGeom>
          </p:spPr>
        </p:pic>
        <p:cxnSp>
          <p:nvCxnSpPr>
            <p:cNvPr id="67" name="小红书-苗猫大丸子(倒卖必究)-67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 descr="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335" y="930910"/>
            <a:ext cx="4838700" cy="2873375"/>
          </a:xfrm>
          <a:prstGeom prst="rect">
            <a:avLst/>
          </a:prstGeom>
        </p:spPr>
      </p:pic>
      <p:pic>
        <p:nvPicPr>
          <p:cNvPr id="8" name="图片 7" descr="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790315"/>
            <a:ext cx="5099050" cy="3027680"/>
          </a:xfrm>
          <a:prstGeom prst="rect">
            <a:avLst/>
          </a:prstGeom>
        </p:spPr>
      </p:pic>
      <p:sp>
        <p:nvSpPr>
          <p:cNvPr id="9" name="小红书-苗猫大丸子(倒卖必究)-64"/>
          <p:cNvSpPr txBox="1"/>
          <p:nvPr/>
        </p:nvSpPr>
        <p:spPr>
          <a:xfrm>
            <a:off x="3005483" y="233061"/>
            <a:ext cx="13925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rgbClr val="691452"/>
                </a:solidFill>
              </a:rPr>
              <a:t>微服务开发</a:t>
            </a:r>
          </a:p>
        </p:txBody>
      </p:sp>
      <p:sp>
        <p:nvSpPr>
          <p:cNvPr id="45" name="小红书-苗猫大丸子(倒卖必究)-45"/>
          <p:cNvSpPr txBox="1"/>
          <p:nvPr/>
        </p:nvSpPr>
        <p:spPr>
          <a:xfrm>
            <a:off x="6017512" y="1061551"/>
            <a:ext cx="6092190" cy="485775"/>
          </a:xfrm>
          <a:prstGeom prst="rect">
            <a:avLst/>
          </a:prstGeom>
          <a:noFill/>
        </p:spPr>
        <p:txBody>
          <a:bodyPr wrap="square" lIns="117226" tIns="58613" rIns="117226" bIns="58613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微服务开发：多模态 </a:t>
            </a:r>
            <a:r>
              <a:rPr lang="en-US" altLang="zh-CN" sz="24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24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智能导购助手</a:t>
            </a:r>
          </a:p>
        </p:txBody>
      </p:sp>
      <p:sp>
        <p:nvSpPr>
          <p:cNvPr id="3" name="小红书-苗猫大丸子(倒卖必究)-91"/>
          <p:cNvSpPr txBox="1"/>
          <p:nvPr>
            <p:custDataLst>
              <p:tags r:id="rId1"/>
            </p:custDataLst>
          </p:nvPr>
        </p:nvSpPr>
        <p:spPr>
          <a:xfrm>
            <a:off x="7724779" y="1700309"/>
            <a:ext cx="1338828" cy="458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多模态融合</a:t>
            </a:r>
            <a:endParaRPr lang="en-US" altLang="zh-CN" b="1" dirty="0">
              <a:solidFill>
                <a:srgbClr val="6E1556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" name="小红书-苗猫大丸子(倒卖必究)-91"/>
          <p:cNvSpPr txBox="1"/>
          <p:nvPr>
            <p:custDataLst>
              <p:tags r:id="rId2"/>
            </p:custDataLst>
          </p:nvPr>
        </p:nvSpPr>
        <p:spPr>
          <a:xfrm>
            <a:off x="7703839" y="2770028"/>
            <a:ext cx="1928733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RAG </a:t>
            </a:r>
            <a:r>
              <a:rPr lang="zh-CN" altLang="en-US" sz="1600" b="1" dirty="0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知识检索增强</a:t>
            </a:r>
          </a:p>
        </p:txBody>
      </p:sp>
      <p:sp>
        <p:nvSpPr>
          <p:cNvPr id="5" name="小红书-苗猫大丸子(倒卖必究)-91"/>
          <p:cNvSpPr txBox="1"/>
          <p:nvPr>
            <p:custDataLst>
              <p:tags r:id="rId3"/>
            </p:custDataLst>
          </p:nvPr>
        </p:nvSpPr>
        <p:spPr>
          <a:xfrm>
            <a:off x="7724779" y="5054316"/>
            <a:ext cx="1210588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微服务交互</a:t>
            </a:r>
          </a:p>
        </p:txBody>
      </p:sp>
      <p:sp>
        <p:nvSpPr>
          <p:cNvPr id="6" name="小红书-苗猫大丸子(倒卖必究)-26"/>
          <p:cNvSpPr txBox="1"/>
          <p:nvPr/>
        </p:nvSpPr>
        <p:spPr>
          <a:xfrm>
            <a:off x="7724778" y="4313775"/>
            <a:ext cx="4111622" cy="61369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系统会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保存用户对话记录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，并在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多轮交互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中，</a:t>
            </a:r>
            <a:r>
              <a: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智能体能够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“记住”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用户对话和细节，实现</a:t>
            </a: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连贯的</a:t>
            </a:r>
            <a:r>
              <a:rPr lang="zh-CN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顾问式导购服务。</a:t>
            </a:r>
          </a:p>
        </p:txBody>
      </p:sp>
      <p:sp>
        <p:nvSpPr>
          <p:cNvPr id="10" name="小红书-苗猫大丸子(倒卖必究)-91"/>
          <p:cNvSpPr txBox="1"/>
          <p:nvPr>
            <p:custDataLst>
              <p:tags r:id="rId4"/>
            </p:custDataLst>
          </p:nvPr>
        </p:nvSpPr>
        <p:spPr>
          <a:xfrm>
            <a:off x="7703839" y="3896032"/>
            <a:ext cx="2031325" cy="417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6E1556"/>
                </a:solidFill>
                <a:latin typeface="Arial" panose="020B0604020202020204"/>
                <a:ea typeface="微软雅黑" panose="020B0503020204020204" charset="-122"/>
              </a:rPr>
              <a:t>多轮对话上下文记忆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2"/>
    </mc:Choice>
    <mc:Fallback xmlns="">
      <p:transition spd="slow" advTm="17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27" grpId="0"/>
      <p:bldP spid="45" grpId="0"/>
      <p:bldP spid="3" grpId="0"/>
      <p:bldP spid="4" grpId="0"/>
      <p:bldP spid="5" grpId="0"/>
      <p:bldP spid="6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349526" y="4790341"/>
            <a:ext cx="9316523" cy="628586"/>
            <a:chOff x="1593215" y="3997032"/>
            <a:chExt cx="5075113" cy="342294"/>
          </a:xfrm>
        </p:grpSpPr>
        <p:sp>
          <p:nvSpPr>
            <p:cNvPr id="59" name="小红书-苗猫大丸子(倒卖必究)-59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6344328" y="3997032"/>
              <a:ext cx="324000" cy="324000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小红书-苗猫大丸子(倒卖必究)-60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4679707" y="4004380"/>
              <a:ext cx="324000" cy="324000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</a:p>
          </p:txBody>
        </p:sp>
        <p:sp>
          <p:nvSpPr>
            <p:cNvPr id="61" name="小红书-苗猫大丸子(倒卖必究)-61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3039840" y="4015326"/>
              <a:ext cx="324000" cy="324000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</a:p>
          </p:txBody>
        </p:sp>
        <p:sp>
          <p:nvSpPr>
            <p:cNvPr id="62" name="小红书-苗猫大丸子(倒卖必究)-62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1593215" y="4005882"/>
              <a:ext cx="324000" cy="324000"/>
            </a:xfrm>
            <a:prstGeom prst="ellipse">
              <a:avLst/>
            </a:prstGeom>
            <a:solidFill>
              <a:srgbClr val="6E15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7" name="小红书-苗猫大丸子(倒卖必究)-67"/>
          <p:cNvSpPr txBox="1"/>
          <p:nvPr>
            <p:custDataLst>
              <p:tags r:id="rId2"/>
            </p:custDataLst>
          </p:nvPr>
        </p:nvSpPr>
        <p:spPr>
          <a:xfrm>
            <a:off x="1019647" y="4936768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多维立体雷达</a:t>
            </a:r>
          </a:p>
        </p:txBody>
      </p:sp>
      <p:sp>
        <p:nvSpPr>
          <p:cNvPr id="68" name="小红书-苗猫大丸子(倒卖必究)-68"/>
          <p:cNvSpPr txBox="1"/>
          <p:nvPr>
            <p:custDataLst>
              <p:tags r:id="rId3"/>
            </p:custDataLst>
          </p:nvPr>
        </p:nvSpPr>
        <p:spPr>
          <a:xfrm>
            <a:off x="246165" y="5529635"/>
            <a:ext cx="2635708" cy="102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利用 </a:t>
            </a:r>
            <a:r>
              <a:rPr lang="en-US" altLang="zh-CN" sz="16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PromQL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实时捕捉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全微服务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CPU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、内存、网络吞吐与进程日志等监控信息。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0" name="小红书-苗猫大丸子(倒卖必究)-70"/>
          <p:cNvSpPr txBox="1"/>
          <p:nvPr>
            <p:custDataLst>
              <p:tags r:id="rId4"/>
            </p:custDataLst>
          </p:nvPr>
        </p:nvSpPr>
        <p:spPr>
          <a:xfrm>
            <a:off x="6649293" y="4928513"/>
            <a:ext cx="2680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RAG </a:t>
            </a:r>
            <a:r>
              <a:rPr lang="zh-CN" altLang="en-US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与 </a:t>
            </a:r>
            <a:r>
              <a:rPr lang="en-US" altLang="zh-CN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SOP </a:t>
            </a:r>
            <a:r>
              <a:rPr lang="zh-CN" altLang="en-US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注入</a:t>
            </a:r>
          </a:p>
        </p:txBody>
      </p:sp>
      <p:sp>
        <p:nvSpPr>
          <p:cNvPr id="71" name="小红书-苗猫大丸子(倒卖必究)-71"/>
          <p:cNvSpPr txBox="1"/>
          <p:nvPr>
            <p:custDataLst>
              <p:tags r:id="rId5"/>
            </p:custDataLst>
          </p:nvPr>
        </p:nvSpPr>
        <p:spPr>
          <a:xfrm>
            <a:off x="5999550" y="5495396"/>
            <a:ext cx="2933600" cy="102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挂载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运维操作手册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》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，并根据不同微服务特征，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动态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下发排障指南。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3" name="小红书-苗猫大丸子(倒卖必究)-73"/>
          <p:cNvSpPr txBox="1"/>
          <p:nvPr>
            <p:custDataLst>
              <p:tags r:id="rId6"/>
            </p:custDataLst>
          </p:nvPr>
        </p:nvSpPr>
        <p:spPr>
          <a:xfrm>
            <a:off x="3641208" y="4936768"/>
            <a:ext cx="2504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大模型 </a:t>
            </a:r>
            <a:r>
              <a:rPr lang="en-US" altLang="zh-CN" b="1" dirty="0">
                <a:solidFill>
                  <a:srgbClr val="C63E3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Tool Calling</a:t>
            </a:r>
            <a:endParaRPr lang="zh-CN" altLang="en-US" b="1" dirty="0">
              <a:solidFill>
                <a:srgbClr val="C63E3E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4" name="小红书-苗猫大丸子(倒卖必究)-74"/>
          <p:cNvSpPr txBox="1"/>
          <p:nvPr>
            <p:custDataLst>
              <p:tags r:id="rId7"/>
            </p:custDataLst>
          </p:nvPr>
        </p:nvSpPr>
        <p:spPr>
          <a:xfrm>
            <a:off x="3108510" y="5529634"/>
            <a:ext cx="2680335" cy="1020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自动调取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Prometheus 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监控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 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Kubernetes 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底层日志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、重启服务等工具。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75" name="组合 74"/>
          <p:cNvGrpSpPr/>
          <p:nvPr>
            <p:custDataLst>
              <p:tags r:id="rId8"/>
            </p:custDataLst>
          </p:nvPr>
        </p:nvGrpSpPr>
        <p:grpSpPr>
          <a:xfrm>
            <a:off x="9012233" y="4872527"/>
            <a:ext cx="3179767" cy="1623213"/>
            <a:chOff x="6060511" y="1704582"/>
            <a:chExt cx="3686716" cy="1622831"/>
          </a:xfrm>
        </p:grpSpPr>
        <p:sp>
          <p:nvSpPr>
            <p:cNvPr id="76" name="小红书-苗猫大丸子(倒卖必究)-76"/>
            <p:cNvSpPr txBox="1"/>
            <p:nvPr>
              <p:custDataLst>
                <p:tags r:id="rId9"/>
              </p:custDataLst>
            </p:nvPr>
          </p:nvSpPr>
          <p:spPr>
            <a:xfrm>
              <a:off x="6914173" y="1704582"/>
              <a:ext cx="2833054" cy="368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C63E3E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HITL </a:t>
              </a:r>
              <a:r>
                <a:rPr lang="zh-CN" altLang="en-US" b="1" dirty="0">
                  <a:solidFill>
                    <a:srgbClr val="C63E3E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人机协同</a:t>
              </a:r>
            </a:p>
          </p:txBody>
        </p:sp>
        <p:sp>
          <p:nvSpPr>
            <p:cNvPr id="77" name="小红书-苗猫大丸子(倒卖必究)-77"/>
            <p:cNvSpPr txBox="1"/>
            <p:nvPr>
              <p:custDataLst>
                <p:tags r:id="rId10"/>
              </p:custDataLst>
            </p:nvPr>
          </p:nvSpPr>
          <p:spPr>
            <a:xfrm>
              <a:off x="6060511" y="2306669"/>
              <a:ext cx="3401303" cy="1020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AI 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完成</a:t>
              </a:r>
              <a:r>
                <a:rPr lang="zh-CN" altLang="en-US" sz="16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根因诊断和报告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后，根据实际情况发起</a:t>
              </a:r>
              <a:r>
                <a:rPr lang="zh-CN" altLang="en-US" sz="16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管理员审批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，实现高危故障的高效协同运维。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0" y="55380"/>
            <a:ext cx="12192000" cy="792000"/>
            <a:chOff x="0" y="0"/>
            <a:chExt cx="12192000" cy="792000"/>
          </a:xfrm>
        </p:grpSpPr>
        <p:sp>
          <p:nvSpPr>
            <p:cNvPr id="25" name="小红书-苗猫大丸子(倒卖必究)-25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26" name="小红书-苗猫大丸子(倒卖必究)-26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小红书-苗猫大丸子(倒卖必究)-29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小红书-苗猫大丸子(倒卖必究)-31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小红书-苗猫大丸子(倒卖必究)-33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Picture 77" descr="南开大学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5550" y="40125"/>
              <a:ext cx="2011854" cy="711433"/>
            </a:xfrm>
            <a:prstGeom prst="rect">
              <a:avLst/>
            </a:prstGeom>
          </p:spPr>
        </p:pic>
        <p:cxnSp>
          <p:nvCxnSpPr>
            <p:cNvPr id="36" name="小红书-苗猫大丸子(倒卖必究)-36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小红书-苗猫大丸子(倒卖必究)-64"/>
          <p:cNvSpPr txBox="1"/>
          <p:nvPr/>
        </p:nvSpPr>
        <p:spPr>
          <a:xfrm>
            <a:off x="3005483" y="233061"/>
            <a:ext cx="13925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rgbClr val="691452"/>
                </a:solidFill>
              </a:rPr>
              <a:t>微服务开发</a:t>
            </a:r>
          </a:p>
        </p:txBody>
      </p:sp>
      <p:sp>
        <p:nvSpPr>
          <p:cNvPr id="3" name="小红书-苗猫大丸子(倒卖必究)-45"/>
          <p:cNvSpPr txBox="1"/>
          <p:nvPr/>
        </p:nvSpPr>
        <p:spPr>
          <a:xfrm>
            <a:off x="3083949" y="970717"/>
            <a:ext cx="5831205" cy="485775"/>
          </a:xfrm>
          <a:prstGeom prst="rect">
            <a:avLst/>
          </a:prstGeom>
          <a:noFill/>
        </p:spPr>
        <p:txBody>
          <a:bodyPr wrap="square" lIns="117226" tIns="58613" rIns="117226" bIns="58613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加分项：</a:t>
            </a:r>
            <a:r>
              <a:rPr lang="en-US" altLang="zh-CN" sz="24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AIOps </a:t>
            </a:r>
            <a:r>
              <a:rPr lang="zh-CN" altLang="en-US" sz="2400" b="1" dirty="0">
                <a:solidFill>
                  <a:srgbClr val="AC2287"/>
                </a:solidFill>
                <a:latin typeface="微软雅黑" panose="020B0503020204020204" charset="-122"/>
                <a:ea typeface="微软雅黑" panose="020B0503020204020204" charset="-122"/>
              </a:rPr>
              <a:t>智能运维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77" y="1679333"/>
            <a:ext cx="3893137" cy="278643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0474" y="1622388"/>
            <a:ext cx="3798911" cy="29981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3"/>
    </mc:Choice>
    <mc:Fallback xmlns="">
      <p:transition spd="slow" advTm="3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/>
          <p:cNvGrpSpPr/>
          <p:nvPr/>
        </p:nvGrpSpPr>
        <p:grpSpPr>
          <a:xfrm>
            <a:off x="0" y="21727"/>
            <a:ext cx="12192000" cy="792000"/>
            <a:chOff x="0" y="0"/>
            <a:chExt cx="12192000" cy="792000"/>
          </a:xfrm>
        </p:grpSpPr>
        <p:sp>
          <p:nvSpPr>
            <p:cNvPr id="50" name="小红书-苗猫大丸子(倒卖必究)-50"/>
            <p:cNvSpPr/>
            <p:nvPr/>
          </p:nvSpPr>
          <p:spPr>
            <a:xfrm>
              <a:off x="0" y="0"/>
              <a:ext cx="12192000" cy="7920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355600" dist="190500" dir="5400000" algn="t" rotWithShape="0">
                <a:prstClr val="black">
                  <a:alpha val="11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cxnSp>
          <p:nvCxnSpPr>
            <p:cNvPr id="51" name="小红书-苗猫大丸子(倒卖必究)-51"/>
            <p:cNvCxnSpPr/>
            <p:nvPr/>
          </p:nvCxnSpPr>
          <p:spPr>
            <a:xfrm>
              <a:off x="4594682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小红书-苗猫大丸子(倒卖必究)-54"/>
            <p:cNvCxnSpPr/>
            <p:nvPr/>
          </p:nvCxnSpPr>
          <p:spPr>
            <a:xfrm>
              <a:off x="2858891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小红书-苗猫大丸子(倒卖必究)-56"/>
            <p:cNvCxnSpPr/>
            <p:nvPr/>
          </p:nvCxnSpPr>
          <p:spPr>
            <a:xfrm>
              <a:off x="6330474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小红书-苗猫大丸子(倒卖必究)-58"/>
            <p:cNvCxnSpPr/>
            <p:nvPr/>
          </p:nvCxnSpPr>
          <p:spPr>
            <a:xfrm>
              <a:off x="8066265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Picture 93" descr="南开大学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223" y="23511"/>
              <a:ext cx="2011854" cy="711433"/>
            </a:xfrm>
            <a:prstGeom prst="rect">
              <a:avLst/>
            </a:prstGeom>
          </p:spPr>
        </p:pic>
        <p:cxnSp>
          <p:nvCxnSpPr>
            <p:cNvPr id="61" name="小红书-苗猫大丸子(倒卖必究)-61"/>
            <p:cNvCxnSpPr/>
            <p:nvPr/>
          </p:nvCxnSpPr>
          <p:spPr>
            <a:xfrm>
              <a:off x="9790290" y="252000"/>
              <a:ext cx="0" cy="288000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小红书-苗猫大丸子(倒卖必究)-64"/>
          <p:cNvSpPr txBox="1"/>
          <p:nvPr/>
        </p:nvSpPr>
        <p:spPr>
          <a:xfrm>
            <a:off x="3005483" y="233061"/>
            <a:ext cx="13925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b="1" spc="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rgbClr val="691452"/>
                </a:solidFill>
              </a:rPr>
              <a:t>微服务开发</a:t>
            </a:r>
          </a:p>
        </p:txBody>
      </p:sp>
      <p:sp>
        <p:nvSpPr>
          <p:cNvPr id="7" name="小红书-苗猫大丸子(倒卖必究)-15"/>
          <p:cNvSpPr/>
          <p:nvPr/>
        </p:nvSpPr>
        <p:spPr>
          <a:xfrm rot="16200000">
            <a:off x="1238297" y="1463929"/>
            <a:ext cx="791999" cy="1557363"/>
          </a:xfrm>
          <a:prstGeom prst="downArrow">
            <a:avLst/>
          </a:prstGeom>
          <a:solidFill>
            <a:srgbClr val="6E155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ea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7266" y="2940537"/>
            <a:ext cx="2678813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智能导购和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AIOps 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智能运维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微服务架构图</a:t>
            </a: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8891" y="756671"/>
            <a:ext cx="9025862" cy="5999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9"/>
    </mc:Choice>
    <mc:Fallback xmlns="">
      <p:transition spd="slow" advTm="170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FmNmM0ZjY5YjNkOTQ2MTJiZDU0ZDkxMWFhMmEyZ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94976377952753,&quot;left&quot;:425.8130708661417,&quot;top&quot;:146.87976377952754,&quot;width&quot;:515.23133858267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94976377952753,&quot;left&quot;:425.8130708661417,&quot;top&quot;:146.87976377952754,&quot;width&quot;:515.23133858267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94976377952753,&quot;left&quot;:425.8130708661417,&quot;top&quot;:146.87976377952754,&quot;width&quot;:515.23133858267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94976377952753,&quot;left&quot;:425.8130708661417,&quot;top&quot;:146.87976377952754,&quot;width&quot;:515.23133858267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.94976377952753,&quot;left&quot;:425.8130708661417,&quot;top&quot;:146.87976377952754,&quot;width&quot;:515.23133858267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4819685039371,&quot;left&quot;:20.9282113730671,&quot;top&quot;:101.11803149606298,&quot;width&quot;:950.5218564865405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D14"/>
      </a:accent1>
      <a:accent2>
        <a:srgbClr val="00206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Microsoft YaHei Light"/>
        <a:ea typeface="微软雅黑"/>
        <a:cs typeface=""/>
      </a:majorFont>
      <a:minorFont>
        <a:latin typeface="微软雅黑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宽屏</PresentationFormat>
  <Paragraphs>46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Microsoft YaHei Light</vt:lpstr>
      <vt:lpstr>等线</vt:lpstr>
      <vt:lpstr>宋体</vt:lpstr>
      <vt:lpstr>微软雅黑</vt:lpstr>
      <vt:lpstr>Arial</vt:lpstr>
      <vt:lpstr>Calibri</vt:lpstr>
      <vt:lpstr>Wingdings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</vt:vector>
  </TitlesOfParts>
  <Manager>小红书_苗猫大丸子</Manager>
  <Company>小红书_苗猫大丸子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小红书_苗猫大丸子</dc:title>
  <dc:subject>小红书_苗猫大丸子</dc:subject>
  <dc:creator>小红书_苗猫大丸子</dc:creator>
  <cp:keywords>小红书_苗猫大丸子</cp:keywords>
  <dc:description>发现盗卖请搜索小红书'苗猫大丸子'举报 ！</dc:description>
  <cp:lastModifiedBy>嘉仪 杨</cp:lastModifiedBy>
  <cp:revision>84</cp:revision>
  <dcterms:created xsi:type="dcterms:W3CDTF">2020-04-11T01:02:00Z</dcterms:created>
  <dcterms:modified xsi:type="dcterms:W3CDTF">2026-06-14T12:47:30Z</dcterms:modified>
  <cp:category>小红书_苗猫大丸子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68A5EADC706E4D3C8A8DC9938DFC5AAF</vt:lpwstr>
  </property>
  <property fmtid="{D5CDD505-2E9C-101B-9397-08002B2CF9AE}" pid="3" name="KSOProductBuildVer">
    <vt:lpwstr>2052-12.1.0.26895</vt:lpwstr>
  </property>
</Properties>
</file>